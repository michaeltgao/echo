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fe7f6a3ed4468e" /><Relationship Type="http://schemas.openxmlformats.org/officeDocument/2006/relationships/extended-properties" Target="/docProps/app.xml" Id="Rc8ee9d7ef8d04466" /><Relationship Type="http://schemas.openxmlformats.org/officeDocument/2006/relationships/officeDocument" Target="/ppt/presentation.xml" Id="R650f594010794b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39fb603c1d465a"/>
  </p:sldMasterIdLst>
  <p:notesMasterIdLst>
    <p:notesMasterId xmlns:r="http://schemas.openxmlformats.org/officeDocument/2006/relationships" r:id="R27b05fa8135d4d58"/>
  </p:notesMasterIdLst>
  <p:sldIdLst>
    <p:sldId xmlns:r="http://schemas.openxmlformats.org/officeDocument/2006/relationships" id="256" r:id="R4c7fb290c8ce4ba1"/>
    <p:sldId xmlns:r="http://schemas.openxmlformats.org/officeDocument/2006/relationships" id="257" r:id="Re4bcc8fabf0d4dd7"/>
    <p:sldId xmlns:r="http://schemas.openxmlformats.org/officeDocument/2006/relationships" id="258" r:id="R22e453f1e4f449fa"/>
    <p:sldId xmlns:r="http://schemas.openxmlformats.org/officeDocument/2006/relationships" id="259" r:id="R60d1a3916a724371"/>
    <p:sldId xmlns:r="http://schemas.openxmlformats.org/officeDocument/2006/relationships" id="260" r:id="R7c4b52262cc04a9c"/>
    <p:sldId xmlns:r="http://schemas.openxmlformats.org/officeDocument/2006/relationships" id="261" r:id="R4f6af54dca34478c"/>
    <p:sldId xmlns:r="http://schemas.openxmlformats.org/officeDocument/2006/relationships" id="262" r:id="R7054be0648ff4fe8"/>
    <p:sldId xmlns:r="http://schemas.openxmlformats.org/officeDocument/2006/relationships" id="263" r:id="R769b9a79f20e432d"/>
    <p:sldId xmlns:r="http://schemas.openxmlformats.org/officeDocument/2006/relationships" id="264" r:id="R3f50ffb9e44648e3"/>
    <p:sldId xmlns:r="http://schemas.openxmlformats.org/officeDocument/2006/relationships" id="265" r:id="Raa1ada2c703a4e8f"/>
    <p:sldId xmlns:r="http://schemas.openxmlformats.org/officeDocument/2006/relationships" id="266" r:id="R1f0f55f8ec454331"/>
    <p:sldId xmlns:r="http://schemas.openxmlformats.org/officeDocument/2006/relationships" id="267" r:id="Rd70adf2678cb4b2f"/>
    <p:sldId xmlns:r="http://schemas.openxmlformats.org/officeDocument/2006/relationships" id="268" r:id="R39476b9f96be4009"/>
    <p:sldId xmlns:r="http://schemas.openxmlformats.org/officeDocument/2006/relationships" id="269" r:id="R2786fa248b9e4407"/>
    <p:sldId xmlns:r="http://schemas.openxmlformats.org/officeDocument/2006/relationships" id="270" r:id="Rc8f5da2622f543a6"/>
    <p:sldId xmlns:r="http://schemas.openxmlformats.org/officeDocument/2006/relationships" id="271" r:id="Rcf2a65e6406e4956"/>
    <p:sldId xmlns:r="http://schemas.openxmlformats.org/officeDocument/2006/relationships" id="272" r:id="Rda76a67bd7494571"/>
    <p:sldId xmlns:r="http://schemas.openxmlformats.org/officeDocument/2006/relationships" id="273" r:id="Ra8b2cbce5278485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39fb603c1d465a" /><Relationship Type="http://schemas.openxmlformats.org/officeDocument/2006/relationships/theme" Target="/ppt/theme/theme1.xml" Id="R122a5f33f8b845d7" /><Relationship Type="http://schemas.openxmlformats.org/officeDocument/2006/relationships/notesMaster" Target="/ppt/notesMasters/notesMaster1.xml" Id="R27b05fa8135d4d58" /><Relationship Type="http://schemas.openxmlformats.org/officeDocument/2006/relationships/presProps" Target="/ppt/presProps.xml" Id="R853061e9fe344fb0" /><Relationship Type="http://schemas.openxmlformats.org/officeDocument/2006/relationships/viewProps" Target="/ppt/viewProps.xml" Id="Rb96eacc99ba14db3" /><Relationship Type="http://schemas.openxmlformats.org/officeDocument/2006/relationships/tableStyles" Target="/ppt/tableStyles.xml" Id="Rb0ad0168034d49d5" /><Relationship Type="http://schemas.openxmlformats.org/officeDocument/2006/relationships/slide" Target="/ppt/slides/slide1.xml" Id="R4c7fb290c8ce4ba1" /><Relationship Type="http://schemas.openxmlformats.org/officeDocument/2006/relationships/slide" Target="/ppt/slides/slide2.xml" Id="Re4bcc8fabf0d4dd7" /><Relationship Type="http://schemas.openxmlformats.org/officeDocument/2006/relationships/slide" Target="/ppt/slides/slide3.xml" Id="R22e453f1e4f449fa" /><Relationship Type="http://schemas.openxmlformats.org/officeDocument/2006/relationships/slide" Target="/ppt/slides/slide4.xml" Id="R60d1a3916a724371" /><Relationship Type="http://schemas.openxmlformats.org/officeDocument/2006/relationships/slide" Target="/ppt/slides/slide5.xml" Id="R7c4b52262cc04a9c" /><Relationship Type="http://schemas.openxmlformats.org/officeDocument/2006/relationships/slide" Target="/ppt/slides/slide6.xml" Id="R4f6af54dca34478c" /><Relationship Type="http://schemas.openxmlformats.org/officeDocument/2006/relationships/slide" Target="/ppt/slides/slide7.xml" Id="R7054be0648ff4fe8" /><Relationship Type="http://schemas.openxmlformats.org/officeDocument/2006/relationships/slide" Target="/ppt/slides/slide8.xml" Id="R769b9a79f20e432d" /><Relationship Type="http://schemas.openxmlformats.org/officeDocument/2006/relationships/slide" Target="/ppt/slides/slide9.xml" Id="R3f50ffb9e44648e3" /><Relationship Type="http://schemas.openxmlformats.org/officeDocument/2006/relationships/slide" Target="/ppt/slides/slide10.xml" Id="Raa1ada2c703a4e8f" /><Relationship Type="http://schemas.openxmlformats.org/officeDocument/2006/relationships/slide" Target="/ppt/slides/slide11.xml" Id="R1f0f55f8ec454331" /><Relationship Type="http://schemas.openxmlformats.org/officeDocument/2006/relationships/slide" Target="/ppt/slides/slide12.xml" Id="Rd70adf2678cb4b2f" /><Relationship Type="http://schemas.openxmlformats.org/officeDocument/2006/relationships/slide" Target="/ppt/slides/slide13.xml" Id="R39476b9f96be4009" /><Relationship Type="http://schemas.openxmlformats.org/officeDocument/2006/relationships/slide" Target="/ppt/slides/slide14.xml" Id="R2786fa248b9e4407" /><Relationship Type="http://schemas.openxmlformats.org/officeDocument/2006/relationships/slide" Target="/ppt/slides/slide15.xml" Id="Rc8f5da2622f543a6" /><Relationship Type="http://schemas.openxmlformats.org/officeDocument/2006/relationships/slide" Target="/ppt/slides/slide16.xml" Id="Rcf2a65e6406e4956" /><Relationship Type="http://schemas.openxmlformats.org/officeDocument/2006/relationships/slide" Target="/ppt/slides/slide17.xml" Id="Rda76a67bd7494571" /><Relationship Type="http://schemas.openxmlformats.org/officeDocument/2006/relationships/slide" Target="/ppt/slides/slide18.xml" Id="Ra8b2cbce527848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cd5a32d26524b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eb000861ac4f84" /><Relationship Type="http://schemas.openxmlformats.org/officeDocument/2006/relationships/notesMaster" Target="/ppt/notesMasters/notesMaster1.xml" Id="R3096f455a62745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d1767048db4bdf" /><Relationship Type="http://schemas.openxmlformats.org/officeDocument/2006/relationships/notesMaster" Target="/ppt/notesMasters/notesMaster1.xml" Id="Rbf4128b2868a42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84218e3ddd4e26" /><Relationship Type="http://schemas.openxmlformats.org/officeDocument/2006/relationships/notesMaster" Target="/ppt/notesMasters/notesMaster1.xml" Id="Rdd6a1866ea934a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8c8f9646504787" /><Relationship Type="http://schemas.openxmlformats.org/officeDocument/2006/relationships/notesMaster" Target="/ppt/notesMasters/notesMaster1.xml" Id="R44908cb48bc943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2cc03433924d49" /><Relationship Type="http://schemas.openxmlformats.org/officeDocument/2006/relationships/notesMaster" Target="/ppt/notesMasters/notesMaster1.xml" Id="R89ef4d6121be41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eb9f18c01c4e74" /><Relationship Type="http://schemas.openxmlformats.org/officeDocument/2006/relationships/notesMaster" Target="/ppt/notesMasters/notesMaster1.xml" Id="Rd3c5d35b321d40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83701fda844f78" /><Relationship Type="http://schemas.openxmlformats.org/officeDocument/2006/relationships/notesMaster" Target="/ppt/notesMasters/notesMaster1.xml" Id="Rfa13ec05df1c4d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bffbd0f52d4f3e" /><Relationship Type="http://schemas.openxmlformats.org/officeDocument/2006/relationships/notesMaster" Target="/ppt/notesMasters/notesMaster1.xml" Id="R9c7ec9f8d73e4f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b6cbefddb64d39" /><Relationship Type="http://schemas.openxmlformats.org/officeDocument/2006/relationships/notesMaster" Target="/ppt/notesMasters/notesMaster1.xml" Id="Rd95b6aaa009747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e0627817d44781" /><Relationship Type="http://schemas.openxmlformats.org/officeDocument/2006/relationships/notesMaster" Target="/ppt/notesMasters/notesMaster1.xml" Id="Ra6564074ed6d44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bb7c3fcea0493c" /><Relationship Type="http://schemas.openxmlformats.org/officeDocument/2006/relationships/notesMaster" Target="/ppt/notesMasters/notesMaster1.xml" Id="R1d3372162e5540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78938d51f34e93" /><Relationship Type="http://schemas.openxmlformats.org/officeDocument/2006/relationships/notesMaster" Target="/ppt/notesMasters/notesMaster1.xml" Id="Rd09626a96dd341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99fd4e89ce422e" /><Relationship Type="http://schemas.openxmlformats.org/officeDocument/2006/relationships/notesMaster" Target="/ppt/notesMasters/notesMaster1.xml" Id="R9beb900f9376439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d7ce710f394824" /><Relationship Type="http://schemas.openxmlformats.org/officeDocument/2006/relationships/notesMaster" Target="/ppt/notesMasters/notesMaster1.xml" Id="Re3b68a63c46f43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8328d39d5e4ace" /><Relationship Type="http://schemas.openxmlformats.org/officeDocument/2006/relationships/notesMaster" Target="/ppt/notesMasters/notesMaster1.xml" Id="Rbca0f4b5569c422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c33cdd6dd784e0d" /><Relationship Type="http://schemas.openxmlformats.org/officeDocument/2006/relationships/notesMaster" Target="/ppt/notesMasters/notesMaster1.xml" Id="Radb5d7c6e72e4bc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e1073c240443f1" /><Relationship Type="http://schemas.openxmlformats.org/officeDocument/2006/relationships/notesMaster" Target="/ppt/notesMasters/notesMaster1.xml" Id="Raf3cef499d164e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05f48d7c32c4ace" /><Relationship Type="http://schemas.openxmlformats.org/officeDocument/2006/relationships/notesMaster" Target="/ppt/notesMasters/notesMaster1.xml" Id="Rf0c9ff66c48942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5714aac7bf4bf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35e5e289ca64060" /><Relationship Type="http://schemas.openxmlformats.org/officeDocument/2006/relationships/slideLayout" Target="/ppt/slideLayouts/slideLayout2.xml" Id="R88b1b9f0eac74f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b1b9f0eac74f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e8f832c2e74671" /><Relationship Type="http://schemas.openxmlformats.org/officeDocument/2006/relationships/notesSlide" Target="/ppt/notesSlides/notesSlide1.xml" Id="Rd039993d43bf4c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81430aa9474f94" /><Relationship Type="http://schemas.openxmlformats.org/officeDocument/2006/relationships/notesSlide" Target="/ppt/notesSlides/notesSlide2.xml" Id="Rd6635dc6cbc64e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11db39401e4be4" /><Relationship Type="http://schemas.openxmlformats.org/officeDocument/2006/relationships/notesSlide" Target="/ppt/notesSlides/notesSlide3.xml" Id="R0b95f8420ca34c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1a705e222a4d51" /><Relationship Type="http://schemas.openxmlformats.org/officeDocument/2006/relationships/notesSlide" Target="/ppt/notesSlides/notesSlide4.xml" Id="Rf1b7ef0453364b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181187f83a400b" /><Relationship Type="http://schemas.openxmlformats.org/officeDocument/2006/relationships/notesSlide" Target="/ppt/notesSlides/notesSlide5.xml" Id="R56aee7d8a3d041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627e2c07614900" /><Relationship Type="http://schemas.openxmlformats.org/officeDocument/2006/relationships/notesSlide" Target="/ppt/notesSlides/notesSlide6.xml" Id="R46169644911a45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98c3136f754450" /><Relationship Type="http://schemas.openxmlformats.org/officeDocument/2006/relationships/notesSlide" Target="/ppt/notesSlides/notesSlide7.xml" Id="Ra0dc13c135bf43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0a52e2722948f5" /><Relationship Type="http://schemas.openxmlformats.org/officeDocument/2006/relationships/notesSlide" Target="/ppt/notesSlides/notesSlide8.xml" Id="Rdf22121b0cfa4d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eb9444adcb483a" /><Relationship Type="http://schemas.openxmlformats.org/officeDocument/2006/relationships/notesSlide" Target="/ppt/notesSlides/notesSlide9.xml" Id="Rda10e65e61564a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d6368ef34940c9" /><Relationship Type="http://schemas.openxmlformats.org/officeDocument/2006/relationships/notesSlide" Target="/ppt/notesSlides/notesSlide10.xml" Id="Rc4a6fefe64a447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d3a6011e104158" /><Relationship Type="http://schemas.openxmlformats.org/officeDocument/2006/relationships/notesSlide" Target="/ppt/notesSlides/notesSlide11.xml" Id="Rc7fd54eb03b445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d03a2a49c74e8c" /><Relationship Type="http://schemas.openxmlformats.org/officeDocument/2006/relationships/notesSlide" Target="/ppt/notesSlides/notesSlide12.xml" Id="R615191093e7b4d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e076e31c38441f" /><Relationship Type="http://schemas.openxmlformats.org/officeDocument/2006/relationships/notesSlide" Target="/ppt/notesSlides/notesSlide13.xml" Id="Re5e2214e332e4b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411565380243ea" /><Relationship Type="http://schemas.openxmlformats.org/officeDocument/2006/relationships/notesSlide" Target="/ppt/notesSlides/notesSlide14.xml" Id="R3a2754c167644e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1dfed8db034c16" /><Relationship Type="http://schemas.openxmlformats.org/officeDocument/2006/relationships/notesSlide" Target="/ppt/notesSlides/notesSlide15.xml" Id="Re8fb039e17c2485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f3ecb70dc64777" /><Relationship Type="http://schemas.openxmlformats.org/officeDocument/2006/relationships/notesSlide" Target="/ppt/notesSlides/notesSlide16.xml" Id="R25f2c1b3318a43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c537b613da4d4a" /><Relationship Type="http://schemas.openxmlformats.org/officeDocument/2006/relationships/notesSlide" Target="/ppt/notesSlides/notesSlide17.xml" Id="R8ebec1618b0a4fe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194b524d0d48a1" /><Relationship Type="http://schemas.openxmlformats.org/officeDocument/2006/relationships/notesSlide" Target="/ppt/notesSlides/notesSlide18.xml" Id="Rf7e1986b1eb248e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F2E5B56-F239-440E-B3CE-D58A9871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68961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101820"/>
                </a:solidFill>
              </a:defRPr>
            </a:pPr>
            <a:r>
              <a:rPr sz="7800" b="1">
                <a:solidFill>
                  <a:srgbClr val="101820"/>
                </a:solidFill>
              </a:rPr>
              <a:t>Lattice Predict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B72D0AA-C237-4284-BB14-C3A2B8C4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5676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1820"/>
                </a:solidFill>
              </a:defRPr>
            </a:pPr>
            <a:r>
              <a:rPr sz="2850">
                <a:solidFill>
                  <a:srgbClr val="101820"/>
                </a:solidFill>
              </a:rPr>
              <a:t>A wind tunnel for people decisions.</a:t>
            </a:r>
          </a:p>
        </p:txBody>
      </p:sp>
      <p:sp>
        <p:nvSpPr>
          <p:cNvPr id="3" name="chip-agent actions">
            <a:extLst xmlns:a="http://schemas.openxmlformats.org/drawingml/2006/main">
              <a:ext uri="{FF2B5EF4-FFF2-40B4-BE49-F238E27FC236}">
                <a16:creationId xmlns:a16="http://schemas.microsoft.com/office/drawing/2014/main" id="{BD676F70-32CD-4246-A35E-A5032C42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1454086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13E29-0975-4413-9796-7DF04D01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F6F6C"/>
                </a:solidFill>
              </a:defRPr>
            </a:pPr>
            <a:r>
              <a:rPr sz="1350" b="1">
                <a:solidFill>
                  <a:srgbClr val="EF6F6C"/>
                </a:solidFill>
              </a:rPr>
              <a:t>agent actions</a:t>
            </a:r>
          </a:p>
        </p:txBody>
      </p:sp>
      <p:sp>
        <p:nvSpPr>
          <p:cNvPr id="5" name="chip-cohort pulse">
            <a:extLst xmlns:a="http://schemas.openxmlformats.org/drawingml/2006/main">
              <a:ext uri="{FF2B5EF4-FFF2-40B4-BE49-F238E27FC236}">
                <a16:creationId xmlns:a16="http://schemas.microsoft.com/office/drawing/2014/main" id="{8DD12017-B6C6-4C41-A2F5-600249AB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836" y="3924300"/>
            <a:ext cx="1368266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D4537-EFDE-43CF-8902-46D0DD73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00500"/>
            <a:ext cx="1028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cohort pulse</a:t>
            </a:r>
          </a:p>
        </p:txBody>
      </p:sp>
      <p:sp>
        <p:nvSpPr>
          <p:cNvPr id="7" name="chip-policy rewrite">
            <a:extLst xmlns:a="http://schemas.openxmlformats.org/drawingml/2006/main">
              <a:ext uri="{FF2B5EF4-FFF2-40B4-BE49-F238E27FC236}">
                <a16:creationId xmlns:a16="http://schemas.microsoft.com/office/drawing/2014/main" id="{27A08BDE-F737-4FD0-B19F-298EF84B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453" y="3924300"/>
            <a:ext cx="1447133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7DBA0-7819-4017-A994-BA192CCE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0050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policy rewrite</a:t>
            </a:r>
          </a:p>
        </p:txBody>
      </p:sp>
      <p:sp>
        <p:nvSpPr>
          <p:cNvPr id="9" name="artifact-Day 1">
            <a:extLst xmlns:a="http://schemas.openxmlformats.org/drawingml/2006/main">
              <a:ext uri="{FF2B5EF4-FFF2-40B4-BE49-F238E27FC236}">
                <a16:creationId xmlns:a16="http://schemas.microsoft.com/office/drawing/2014/main" id="{A68AB1D4-2726-4FBD-B442-D503C807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990" y="2747963"/>
            <a:ext cx="716661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D01C1-17E0-42FD-86C4-8D40C03A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71800"/>
            <a:ext cx="6629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Day 1</a:t>
            </a:r>
          </a:p>
        </p:txBody>
      </p:sp>
      <p:sp>
        <p:nvSpPr>
          <p:cNvPr id="11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75D0AF26-E8CE-4F7A-A881-230A2FE8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57550"/>
            <a:ext cx="6629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Policy pasted</a:t>
            </a:r>
          </a:p>
        </p:txBody>
      </p:sp>
      <p:sp>
        <p:nvSpPr>
          <p:cNvPr id="12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BB12DB2F-9CD5-41DC-BCB2-D69F0A92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00450"/>
            <a:ext cx="6629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Northwind workforce wakes up</a:t>
            </a:r>
          </a:p>
        </p:txBody>
      </p:sp>
      <p:sp>
        <p:nvSpPr>
          <p:cNvPr id="13" name="artifact-Day 7">
            <a:extLst xmlns:a="http://schemas.openxmlformats.org/drawingml/2006/main">
              <a:ext uri="{FF2B5EF4-FFF2-40B4-BE49-F238E27FC236}">
                <a16:creationId xmlns:a16="http://schemas.microsoft.com/office/drawing/2014/main" id="{B95737DF-BB1A-47D8-BE28-AA8292AF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990" y="4252913"/>
            <a:ext cx="716661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1D4A4-952D-425F-B8EF-8F9284D1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476750"/>
            <a:ext cx="6629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F6F6C"/>
                </a:solidFill>
              </a:defRPr>
            </a:pPr>
            <a:r>
              <a:rPr sz="1350" b="1">
                <a:solidFill>
                  <a:srgbClr val="EF6F6C"/>
                </a:solidFill>
              </a:rPr>
              <a:t>Day 7</a:t>
            </a:r>
          </a:p>
        </p:txBody>
      </p:sp>
      <p:sp>
        <p:nvSpPr>
          <p:cNvPr id="15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C6FC8508-D6A8-4F31-A6DE-D807BD8A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62500"/>
            <a:ext cx="6629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Managers get exception requests</a:t>
            </a:r>
          </a:p>
        </p:txBody>
      </p:sp>
      <p:sp>
        <p:nvSpPr>
          <p:cNvPr id="16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2E46DAD0-4556-41BA-92F7-FFD4E8D8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05400"/>
            <a:ext cx="6629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Peers see visible concern</a:t>
            </a:r>
          </a:p>
        </p:txBody>
      </p:sp>
      <p:sp>
        <p:nvSpPr>
          <p:cNvPr id="17" name="artifact-Day 30">
            <a:extLst xmlns:a="http://schemas.openxmlformats.org/drawingml/2006/main">
              <a:ext uri="{FF2B5EF4-FFF2-40B4-BE49-F238E27FC236}">
                <a16:creationId xmlns:a16="http://schemas.microsoft.com/office/drawing/2014/main" id="{7F8825FC-8F6A-42C7-8DD1-378DEA1F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990" y="5757863"/>
            <a:ext cx="716661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4305FE-1A5A-478E-8EF4-D170E362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981700"/>
            <a:ext cx="6629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Day 30</a:t>
            </a:r>
          </a:p>
        </p:txBody>
      </p:sp>
      <p:sp>
        <p:nvSpPr>
          <p:cNvPr id="19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7FFE75C3-9AC9-40EB-8FF1-42DB97D1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6629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Pulse forecast and rewrite are ready</a:t>
            </a:r>
          </a:p>
        </p:txBody>
      </p:sp>
      <p:sp>
        <p:nvSpPr>
          <p:cNvPr id="20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92F750A2-8B7C-4542-86CD-312F848E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610350"/>
            <a:ext cx="6629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Decision support, not automation</a:t>
            </a:r>
          </a:p>
        </p:txBody>
      </p:sp>
      <p:sp>
        <p:nvSpPr>
          <p:cNvPr id="2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DEF31F9F-9AE4-4B40-9837-636D0626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48800"/>
            <a:ext cx="16459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978"/>
                </a:solidFill>
              </a:defRPr>
            </a:pPr>
            <a:r>
              <a:rPr sz="1275">
                <a:solidFill>
                  <a:srgbClr val="5E6978"/>
                </a:solidFill>
              </a:rPr>
              <a:t>HackTech 2026 | Lattice x MiroFish-inspired simulation</a:t>
            </a:r>
          </a:p>
        </p:txBody>
      </p:sp>
    </p:spTree>
    <p:extLst>
      <p:ext uri="{BB962C8B-B14F-4D97-AF65-F5344CB8AC3E}">
        <p14:creationId xmlns:p14="http://schemas.microsoft.com/office/powerpoint/2010/main" val="533478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880F59A6-2670-46F4-A6BF-2AD82D81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EF6F6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8BFB18-E332-445B-B109-9CEE6A1E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"/>
            <a:ext cx="1409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</a:defRPr>
            </a:pPr>
            <a:r>
              <a:rPr sz="4350" b="1">
                <a:solidFill>
                  <a:srgbClr val="101820"/>
                </a:solidFill>
              </a:rPr>
              <a:t>HR learns too late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171C423-2062-4C88-85CB-6C83C11E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57300"/>
            <a:ext cx="1295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E6978"/>
                </a:solidFill>
              </a:defRPr>
            </a:pPr>
            <a:r>
              <a:rPr sz="2100">
                <a:solidFill>
                  <a:srgbClr val="5E6978"/>
                </a:solidFill>
              </a:rPr>
              <a:t>Pulse surveys are lagging indicators for policy risk.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11607153-1C9D-4455-A6C9-D9478630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5524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F6F6C"/>
                </a:solidFill>
              </a:defRPr>
            </a:pPr>
            <a:r>
              <a:rPr sz="1500" b="1">
                <a:solidFill>
                  <a:srgbClr val="EF6F6C"/>
                </a:solidFill>
              </a:rPr>
              <a:t>02</a:t>
            </a:r>
          </a:p>
        </p:txBody>
      </p:sp>
      <p:sp>
        <p:nvSpPr>
          <p:cNvPr id="5" name="artifact-Current loop">
            <a:extLst xmlns:a="http://schemas.openxmlformats.org/drawingml/2006/main">
              <a:ext uri="{FF2B5EF4-FFF2-40B4-BE49-F238E27FC236}">
                <a16:creationId xmlns:a16="http://schemas.microsoft.com/office/drawing/2014/main" id="{62088A79-A18A-4164-ABA0-7CE93B63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8077200" cy="7248525"/>
          </a:xfrm>
          <a:prstGeom xmlns:a="http://schemas.openxmlformats.org/drawingml/2006/main" prst="roundRect">
            <a:avLst>
              <a:gd name="adj" fmla="val 1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EE8E3-24E1-4280-96B2-8122A923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7543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F6F6C"/>
                </a:solidFill>
              </a:defRPr>
            </a:pPr>
            <a:r>
              <a:rPr sz="1350" b="1">
                <a:solidFill>
                  <a:srgbClr val="EF6F6C"/>
                </a:solidFill>
              </a:rPr>
              <a:t>Current loop</a:t>
            </a:r>
          </a:p>
        </p:txBody>
      </p:sp>
      <p:sp>
        <p:nvSpPr>
          <p:cNvPr id="7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FDAFB1BA-94B9-496E-A83D-5714C89A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Announce policy</a:t>
            </a:r>
          </a:p>
        </p:txBody>
      </p:sp>
      <p:sp>
        <p:nvSpPr>
          <p:cNvPr id="8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08F624C8-27E2-44B6-999E-E6CABB4A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Wait for Slack rumors</a:t>
            </a:r>
          </a:p>
        </p:txBody>
      </p:sp>
      <p:sp>
        <p:nvSpPr>
          <p:cNvPr id="9" name="artifact-line-2">
            <a:extLst xmlns:a="http://schemas.openxmlformats.org/drawingml/2006/main">
              <a:ext uri="{FF2B5EF4-FFF2-40B4-BE49-F238E27FC236}">
                <a16:creationId xmlns:a16="http://schemas.microsoft.com/office/drawing/2014/main" id="{549AA49D-9B8A-4CFA-8D2E-D5BE837A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Survey after damage is done</a:t>
            </a:r>
          </a:p>
        </p:txBody>
      </p:sp>
      <p:sp>
        <p:nvSpPr>
          <p:cNvPr id="10" name="artifact-Better loop">
            <a:extLst xmlns:a="http://schemas.openxmlformats.org/drawingml/2006/main">
              <a:ext uri="{FF2B5EF4-FFF2-40B4-BE49-F238E27FC236}">
                <a16:creationId xmlns:a16="http://schemas.microsoft.com/office/drawing/2014/main" id="{C838CD8E-A8A4-4651-83F3-65E65CC7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00250"/>
            <a:ext cx="8077200" cy="7248525"/>
          </a:xfrm>
          <a:prstGeom xmlns:a="http://schemas.openxmlformats.org/drawingml/2006/main" prst="roundRect">
            <a:avLst>
              <a:gd name="adj" fmla="val 1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BC3FD-870C-4FF5-84F7-D039884F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28850"/>
            <a:ext cx="7543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Better loop</a:t>
            </a:r>
          </a:p>
        </p:txBody>
      </p:sp>
      <p:sp>
        <p:nvSpPr>
          <p:cNvPr id="12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D04CF533-1F88-452A-8FB8-0020803A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1460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Paste draft policy</a:t>
            </a:r>
          </a:p>
        </p:txBody>
      </p:sp>
      <p:sp>
        <p:nvSpPr>
          <p:cNvPr id="13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408A5BFD-564F-41CC-B320-672E7867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Watch simulated behavior</a:t>
            </a:r>
          </a:p>
        </p:txBody>
      </p:sp>
      <p:sp>
        <p:nvSpPr>
          <p:cNvPr id="14" name="artifact-line-2">
            <a:extLst xmlns:a="http://schemas.openxmlformats.org/drawingml/2006/main">
              <a:ext uri="{FF2B5EF4-FFF2-40B4-BE49-F238E27FC236}">
                <a16:creationId xmlns:a16="http://schemas.microsoft.com/office/drawing/2014/main" id="{C97C796E-9818-4850-881B-B062849C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813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Rewrite before rollout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AB48023-B1C8-448B-9C49-5950CE15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393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16" name="footer-copy">
            <a:extLst xmlns:a="http://schemas.openxmlformats.org/drawingml/2006/main">
              <a:ext uri="{FF2B5EF4-FFF2-40B4-BE49-F238E27FC236}">
                <a16:creationId xmlns:a16="http://schemas.microsoft.com/office/drawing/2014/main" id="{8DE28568-E97F-479A-A312-D0419CDE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9582150"/>
            <a:ext cx="15335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978"/>
                </a:solidFill>
              </a:defRPr>
            </a:pPr>
            <a:r>
              <a:rPr sz="1275">
                <a:solidFill>
                  <a:srgbClr val="5E6978"/>
                </a:solidFill>
              </a:rPr>
              <a:t>Lattice Predict hackathon deck | P4 build</a:t>
            </a:r>
          </a:p>
        </p:txBody>
      </p:sp>
    </p:spTree>
    <p:extLst>
      <p:ext uri="{BB962C8B-B14F-4D97-AF65-F5344CB8AC3E}">
        <p14:creationId xmlns:p14="http://schemas.microsoft.com/office/powerpoint/2010/main" val="15026148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68C93778-DE8C-4B11-9AB1-7CA651FB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EE96CD-01C3-4965-94DD-F6FB2CA5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"/>
            <a:ext cx="1409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</a:defRPr>
            </a:pPr>
            <a:r>
              <a:rPr sz="4350" b="1">
                <a:solidFill>
                  <a:srgbClr val="101820"/>
                </a:solidFill>
              </a:rPr>
              <a:t>The insight: behavior first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3050E28-2EE3-4291-AFE5-814705CC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57300"/>
            <a:ext cx="1295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E6978"/>
                </a:solidFill>
              </a:defRPr>
            </a:pPr>
            <a:r>
              <a:rPr sz="2100">
                <a:solidFill>
                  <a:srgbClr val="5E6978"/>
                </a:solidFill>
              </a:rPr>
              <a:t>The demo wins when judges watch a workforce act, not just a sentiment number move.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666864D0-473E-411A-BC51-C4F2E171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5524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78"/>
                </a:solidFill>
              </a:defRPr>
            </a:pPr>
            <a:r>
              <a:rPr sz="1500" b="1">
                <a:solidFill>
                  <a:srgbClr val="00A878"/>
                </a:solidFill>
              </a:rPr>
              <a:t>03</a:t>
            </a:r>
          </a:p>
        </p:txBody>
      </p:sp>
      <p:sp>
        <p:nvSpPr>
          <p:cNvPr id="5" name="flow-rule-Old model">
            <a:extLst xmlns:a="http://schemas.openxmlformats.org/drawingml/2006/main">
              <a:ext uri="{FF2B5EF4-FFF2-40B4-BE49-F238E27FC236}">
                <a16:creationId xmlns:a16="http://schemas.microsoft.com/office/drawing/2014/main" id="{5238394B-45E5-4BBA-942A-E94B02A6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5276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978"/>
          </a:solidFill>
          <a:ln xmlns:a="http://schemas.openxmlformats.org/drawingml/2006/main" w="0">
            <a:solidFill>
              <a:srgbClr val="5E69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0D412-DBE5-496C-A387-EF599DBA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5276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6978"/>
                </a:solidFill>
              </a:defRPr>
            </a:pPr>
            <a:r>
              <a:rPr sz="1350" b="1">
                <a:solidFill>
                  <a:srgbClr val="5E6978"/>
                </a:solidFill>
              </a:rPr>
              <a:t>Old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66F0C-9825-442C-B06B-20C45986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527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Assign sentiment. Aggregate color. Show dashboard.</a:t>
            </a:r>
          </a:p>
        </p:txBody>
      </p:sp>
      <p:sp>
        <p:nvSpPr>
          <p:cNvPr id="8" name="flow-rule-Lattice Predict">
            <a:extLst xmlns:a="http://schemas.openxmlformats.org/drawingml/2006/main">
              <a:ext uri="{FF2B5EF4-FFF2-40B4-BE49-F238E27FC236}">
                <a16:creationId xmlns:a16="http://schemas.microsoft.com/office/drawing/2014/main" id="{B8AA8126-3B71-4B4C-9153-1EEFD4E5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C5F98-7D8C-443E-ADA1-192DFB60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5276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Lattice Predict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F9864-3D99-4D47-8EB4-D4E46E72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5276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Agents DM peers, post in channels, request exceptions, go quiet, update LinkedIn.</a:t>
            </a:r>
          </a:p>
        </p:txBody>
      </p:sp>
      <p:sp>
        <p:nvSpPr>
          <p:cNvPr id="11" name="flow-rule-Outcome">
            <a:extLst xmlns:a="http://schemas.openxmlformats.org/drawingml/2006/main">
              <a:ext uri="{FF2B5EF4-FFF2-40B4-BE49-F238E27FC236}">
                <a16:creationId xmlns:a16="http://schemas.microsoft.com/office/drawing/2014/main" id="{39A0B88C-7C87-416F-9792-5D6C63A0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000250"/>
            <a:ext cx="5276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AD039-4D50-4202-A70A-003A162C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190750"/>
            <a:ext cx="5276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FD4D1-6BDE-4F2E-AC9D-1ED4CEAC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476500"/>
            <a:ext cx="5276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eNPS is derived from action mix and network visibility.</a:t>
            </a:r>
          </a:p>
        </p:txBody>
      </p:sp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589F537-C4A7-4DA0-AD83-4C26A6D5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393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15" name="footer-copy">
            <a:extLst xmlns:a="http://schemas.openxmlformats.org/drawingml/2006/main">
              <a:ext uri="{FF2B5EF4-FFF2-40B4-BE49-F238E27FC236}">
                <a16:creationId xmlns:a16="http://schemas.microsoft.com/office/drawing/2014/main" id="{3812FE5E-F0BF-4421-8D15-603074D6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9582150"/>
            <a:ext cx="15335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978"/>
                </a:solidFill>
              </a:defRPr>
            </a:pPr>
            <a:r>
              <a:rPr sz="1275">
                <a:solidFill>
                  <a:srgbClr val="5E6978"/>
                </a:solidFill>
              </a:rPr>
              <a:t>Lattice Predict hackathon deck | P4 build</a:t>
            </a:r>
          </a:p>
        </p:txBody>
      </p:sp>
    </p:spTree>
    <p:extLst>
      <p:ext uri="{BB962C8B-B14F-4D97-AF65-F5344CB8AC3E}">
        <p14:creationId xmlns:p14="http://schemas.microsoft.com/office/powerpoint/2010/main" val="18287363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25EA6303-7944-449B-8FF7-7CF8944B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54FD41-C680-43E4-98FB-3DF5A525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"/>
            <a:ext cx="1409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</a:defRPr>
            </a:pPr>
            <a:r>
              <a:rPr sz="4350" b="1">
                <a:solidFill>
                  <a:srgbClr val="101820"/>
                </a:solidFill>
              </a:rPr>
              <a:t>What we built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1E21007-1E4B-4C9A-8582-E95500C7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57300"/>
            <a:ext cx="1295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E6978"/>
                </a:solidFill>
              </a:defRPr>
            </a:pPr>
            <a:r>
              <a:rPr sz="2100">
                <a:solidFill>
                  <a:srgbClr val="5E6978"/>
                </a:solidFill>
              </a:rPr>
              <a:t>A policy simulator that turns a draft into action feed, org graph motion, themes, and a rewrite.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BD6557DF-1F82-4B25-9CCE-C6966DE6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5524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04</a:t>
            </a:r>
          </a:p>
        </p:txBody>
      </p:sp>
      <p:sp>
        <p:nvSpPr>
          <p:cNvPr id="5" name="bullet-num-0">
            <a:extLst xmlns:a="http://schemas.openxmlformats.org/drawingml/2006/main">
              <a:ext uri="{FF2B5EF4-FFF2-40B4-BE49-F238E27FC236}">
                <a16:creationId xmlns:a16="http://schemas.microsoft.com/office/drawing/2014/main" id="{107904A9-5F25-4950-BD93-DC9C024D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01</a:t>
            </a:r>
          </a:p>
        </p:txBody>
      </p:sp>
      <p:sp>
        <p:nvSpPr>
          <p:cNvPr id="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C0D6945D-9D38-4A65-9BEC-DC2808B9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817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Policy parser extracts tone, affected groups, exception path, and severity.</a:t>
            </a:r>
          </a:p>
        </p:txBody>
      </p:sp>
      <p:sp>
        <p:nvSpPr>
          <p:cNvPr id="7" name="bullet-num-1">
            <a:extLst xmlns:a="http://schemas.openxmlformats.org/drawingml/2006/main">
              <a:ext uri="{FF2B5EF4-FFF2-40B4-BE49-F238E27FC236}">
                <a16:creationId xmlns:a16="http://schemas.microsoft.com/office/drawing/2014/main" id="{53C2C667-2480-421A-82E1-DDF75DEF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02</a:t>
            </a:r>
          </a:p>
        </p:txBody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76B9E5DB-9A72-454B-9AD1-D07AFF9B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19350"/>
            <a:ext cx="817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Persona enricher anchors every employee to the policy.</a:t>
            </a:r>
          </a:p>
        </p:txBody>
      </p:sp>
      <p:sp>
        <p:nvSpPr>
          <p:cNvPr id="9" name="bullet-num-2">
            <a:extLst xmlns:a="http://schemas.openxmlformats.org/drawingml/2006/main">
              <a:ext uri="{FF2B5EF4-FFF2-40B4-BE49-F238E27FC236}">
                <a16:creationId xmlns:a16="http://schemas.microsoft.com/office/drawing/2014/main" id="{E5B6552C-C533-4507-9448-A0A49C8D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03</a:t>
            </a:r>
          </a:p>
        </p:txBody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4FCA51BA-57F5-4AA7-A3B4-5A236FB6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38450"/>
            <a:ext cx="817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Action selector produces the feed P2/P3 animate.</a:t>
            </a:r>
          </a:p>
        </p:txBody>
      </p:sp>
      <p:sp>
        <p:nvSpPr>
          <p:cNvPr id="11" name="bullet-num-3">
            <a:extLst xmlns:a="http://schemas.openxmlformats.org/drawingml/2006/main">
              <a:ext uri="{FF2B5EF4-FFF2-40B4-BE49-F238E27FC236}">
                <a16:creationId xmlns:a16="http://schemas.microsoft.com/office/drawing/2014/main" id="{B2EDB659-F954-450E-96ED-7EA37743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04</a:t>
            </a:r>
          </a:p>
        </p:txBody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8FB415B9-B0F4-4827-AFA4-61643855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57550"/>
            <a:ext cx="817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P4 theme and recommendation modules read the resulting actions.</a:t>
            </a:r>
          </a:p>
        </p:txBody>
      </p:sp>
      <p:sp>
        <p:nvSpPr>
          <p:cNvPr id="13" name="artifact-Frontend contract">
            <a:extLst xmlns:a="http://schemas.openxmlformats.org/drawingml/2006/main">
              <a:ext uri="{FF2B5EF4-FFF2-40B4-BE49-F238E27FC236}">
                <a16:creationId xmlns:a16="http://schemas.microsoft.com/office/drawing/2014/main" id="{B6224FCC-45F5-4DE2-BB68-01C27A8D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5088" y="2000250"/>
            <a:ext cx="7243763" cy="7248525"/>
          </a:xfrm>
          <a:prstGeom xmlns:a="http://schemas.openxmlformats.org/drawingml/2006/main" prst="roundRect">
            <a:avLst>
              <a:gd name="adj" fmla="val 10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EAF8F-3CAB-4212-B432-0EB7CF68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228850"/>
            <a:ext cx="6705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Frontend contract</a:t>
            </a:r>
          </a:p>
        </p:txBody>
      </p:sp>
      <p:sp>
        <p:nvSpPr>
          <p:cNvPr id="15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65B191CE-7843-41EC-BAB1-33E2726F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514600"/>
            <a:ext cx="670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GET /northwind: 50 agents plus edges</a:t>
            </a:r>
          </a:p>
        </p:txBody>
      </p:sp>
      <p:sp>
        <p:nvSpPr>
          <p:cNvPr id="16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B9B5658A-EDDF-4796-9D4C-793B6B06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57500"/>
            <a:ext cx="670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POST /simulate: full result JSON</a:t>
            </a:r>
          </a:p>
        </p:txBody>
      </p:sp>
      <p:sp>
        <p:nvSpPr>
          <p:cNvPr id="17" name="artifact-line-2">
            <a:extLst xmlns:a="http://schemas.openxmlformats.org/drawingml/2006/main">
              <a:ext uri="{FF2B5EF4-FFF2-40B4-BE49-F238E27FC236}">
                <a16:creationId xmlns:a16="http://schemas.microsoft.com/office/drawing/2014/main" id="{362A3ABD-5906-4DE1-9F2D-7F8F7300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81350"/>
            <a:ext cx="670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POST /simulate/stream: live SSE action feed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2CEB0BA-D137-4A5C-B27F-13D40A2C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393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19" name="footer-copy">
            <a:extLst xmlns:a="http://schemas.openxmlformats.org/drawingml/2006/main">
              <a:ext uri="{FF2B5EF4-FFF2-40B4-BE49-F238E27FC236}">
                <a16:creationId xmlns:a16="http://schemas.microsoft.com/office/drawing/2014/main" id="{D31C0DFA-40DF-4DCF-90C5-C1434322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9582150"/>
            <a:ext cx="15335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978"/>
                </a:solidFill>
              </a:defRPr>
            </a:pPr>
            <a:r>
              <a:rPr sz="1275">
                <a:solidFill>
                  <a:srgbClr val="5E6978"/>
                </a:solidFill>
              </a:rPr>
              <a:t>Lattice Predict hackathon deck | P4 build</a:t>
            </a:r>
          </a:p>
        </p:txBody>
      </p:sp>
    </p:spTree>
    <p:extLst>
      <p:ext uri="{BB962C8B-B14F-4D97-AF65-F5344CB8AC3E}">
        <p14:creationId xmlns:p14="http://schemas.microsoft.com/office/powerpoint/2010/main" val="1434207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36FDC928-9EA9-4281-9769-3A364B1B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EF6F6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5436EE-93B0-427C-AE42-76F40EA5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"/>
            <a:ext cx="1409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</a:defRPr>
            </a:pPr>
            <a:r>
              <a:rPr sz="4350" b="1">
                <a:solidFill>
                  <a:srgbClr val="101820"/>
                </a:solidFill>
              </a:rPr>
              <a:t>Canonical demo: RTO v1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C0CBC35-7F16-4A0D-8B66-E7186E17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57300"/>
            <a:ext cx="1295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E6978"/>
                </a:solidFill>
              </a:defRPr>
            </a:pPr>
            <a:r>
              <a:rPr sz="2100">
                <a:solidFill>
                  <a:srgbClr val="5E6978"/>
                </a:solidFill>
              </a:rPr>
              <a:t>Firm mandate, manager-discretion exceptions, and a Tue-Thu office requirement.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C4872E39-403F-4E29-90F2-F5E909E2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5524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F6F6C"/>
                </a:solidFill>
              </a:defRPr>
            </a:pPr>
            <a:r>
              <a:rPr sz="1500" b="1">
                <a:solidFill>
                  <a:srgbClr val="EF6F6C"/>
                </a:solidFill>
              </a:rPr>
              <a:t>05</a:t>
            </a:r>
          </a:p>
        </p:txBody>
      </p:sp>
      <p:sp>
        <p:nvSpPr>
          <p:cNvPr id="5" name="metric-value-predicted eNPS">
            <a:extLst xmlns:a="http://schemas.openxmlformats.org/drawingml/2006/main">
              <a:ext uri="{FF2B5EF4-FFF2-40B4-BE49-F238E27FC236}">
                <a16:creationId xmlns:a16="http://schemas.microsoft.com/office/drawing/2014/main" id="{108FEF34-F196-4762-A12A-196EA8C0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5257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EF6F6C"/>
                </a:solidFill>
              </a:defRPr>
            </a:pPr>
            <a:r>
              <a:rPr sz="6900" b="1">
                <a:solidFill>
                  <a:srgbClr val="EF6F6C"/>
                </a:solidFill>
              </a:rPr>
              <a:t>54 -&gt; 30</a:t>
            </a:r>
          </a:p>
        </p:txBody>
      </p:sp>
      <p:sp>
        <p:nvSpPr>
          <p:cNvPr id="6" name="metric-caption-predicted eNPS">
            <a:extLst xmlns:a="http://schemas.openxmlformats.org/drawingml/2006/main">
              <a:ext uri="{FF2B5EF4-FFF2-40B4-BE49-F238E27FC236}">
                <a16:creationId xmlns:a16="http://schemas.microsoft.com/office/drawing/2014/main" id="{C80D5084-4F80-4FD5-9D20-32367397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5257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6978"/>
                </a:solidFill>
              </a:defRPr>
            </a:pPr>
            <a:r>
              <a:rPr sz="1350" b="1">
                <a:solidFill>
                  <a:srgbClr val="5E6978"/>
                </a:solidFill>
              </a:rPr>
              <a:t>predicted eNPS</a:t>
            </a:r>
          </a:p>
        </p:txBody>
      </p:sp>
      <p:sp>
        <p:nvSpPr>
          <p:cNvPr id="7" name="metric-value-agent actions">
            <a:extLst xmlns:a="http://schemas.openxmlformats.org/drawingml/2006/main">
              <a:ext uri="{FF2B5EF4-FFF2-40B4-BE49-F238E27FC236}">
                <a16:creationId xmlns:a16="http://schemas.microsoft.com/office/drawing/2014/main" id="{9C277845-6DF6-43F3-B016-17388FCD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57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2F80ED"/>
                </a:solidFill>
              </a:defRPr>
            </a:pPr>
            <a:r>
              <a:rPr sz="6900" b="1">
                <a:solidFill>
                  <a:srgbClr val="2F80ED"/>
                </a:solidFill>
              </a:rPr>
              <a:t>121</a:t>
            </a:r>
          </a:p>
        </p:txBody>
      </p:sp>
      <p:sp>
        <p:nvSpPr>
          <p:cNvPr id="8" name="metric-caption-agent actions">
            <a:extLst xmlns:a="http://schemas.openxmlformats.org/drawingml/2006/main">
              <a:ext uri="{FF2B5EF4-FFF2-40B4-BE49-F238E27FC236}">
                <a16:creationId xmlns:a16="http://schemas.microsoft.com/office/drawing/2014/main" id="{4D243463-FC39-40E3-99D6-66BD73E6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33700"/>
            <a:ext cx="5257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6978"/>
                </a:solidFill>
              </a:defRPr>
            </a:pPr>
            <a:r>
              <a:rPr sz="1350" b="1">
                <a:solidFill>
                  <a:srgbClr val="5E6978"/>
                </a:solidFill>
              </a:rPr>
              <a:t>agent actions</a:t>
            </a:r>
          </a:p>
        </p:txBody>
      </p:sp>
      <p:sp>
        <p:nvSpPr>
          <p:cNvPr id="9" name="metric-value-LinkedIn updates">
            <a:extLst xmlns:a="http://schemas.openxmlformats.org/drawingml/2006/main">
              <a:ext uri="{FF2B5EF4-FFF2-40B4-BE49-F238E27FC236}">
                <a16:creationId xmlns:a16="http://schemas.microsoft.com/office/drawing/2014/main" id="{6815BD2A-8F82-4E97-8394-18B14913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000250"/>
            <a:ext cx="5257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7B61FF"/>
                </a:solidFill>
              </a:defRPr>
            </a:pPr>
            <a:r>
              <a:rPr sz="6900" b="1">
                <a:solidFill>
                  <a:srgbClr val="7B61FF"/>
                </a:solidFill>
              </a:rPr>
              <a:t>14</a:t>
            </a:r>
          </a:p>
        </p:txBody>
      </p:sp>
      <p:sp>
        <p:nvSpPr>
          <p:cNvPr id="10" name="metric-caption-LinkedIn updates">
            <a:extLst xmlns:a="http://schemas.openxmlformats.org/drawingml/2006/main">
              <a:ext uri="{FF2B5EF4-FFF2-40B4-BE49-F238E27FC236}">
                <a16:creationId xmlns:a16="http://schemas.microsoft.com/office/drawing/2014/main" id="{B1B6A0FF-FEF9-49DB-B911-BEAA3F1F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933700"/>
            <a:ext cx="5257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6978"/>
                </a:solidFill>
              </a:defRPr>
            </a:pPr>
            <a:r>
              <a:rPr sz="1350" b="1">
                <a:solidFill>
                  <a:srgbClr val="5E6978"/>
                </a:solidFill>
              </a:rPr>
              <a:t>LinkedIn updates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D32545D-091E-46E6-BD04-B7777863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393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12" name="footer-copy">
            <a:extLst xmlns:a="http://schemas.openxmlformats.org/drawingml/2006/main">
              <a:ext uri="{FF2B5EF4-FFF2-40B4-BE49-F238E27FC236}">
                <a16:creationId xmlns:a16="http://schemas.microsoft.com/office/drawing/2014/main" id="{B0FECCB3-A7C4-4908-B99B-19AABBBD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9582150"/>
            <a:ext cx="15335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978"/>
                </a:solidFill>
              </a:defRPr>
            </a:pPr>
            <a:r>
              <a:rPr sz="1275">
                <a:solidFill>
                  <a:srgbClr val="5E6978"/>
                </a:solidFill>
              </a:rPr>
              <a:t>Source: production cached RTO v1 result pulled into backend/tests/last_result.json</a:t>
            </a:r>
          </a:p>
        </p:txBody>
      </p:sp>
    </p:spTree>
    <p:extLst>
      <p:ext uri="{BB962C8B-B14F-4D97-AF65-F5344CB8AC3E}">
        <p14:creationId xmlns:p14="http://schemas.microsoft.com/office/powerpoint/2010/main" val="3827281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02365A7A-2999-40C9-A77F-73C934EF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0">
            <a:solidFill>
              <a:srgbClr val="7B61FF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7AC9BA-8826-4E5F-B365-86AC6063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"/>
            <a:ext cx="1409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</a:defRPr>
            </a:pPr>
            <a:r>
              <a:rPr sz="4350" b="1">
                <a:solidFill>
                  <a:srgbClr val="101820"/>
                </a:solidFill>
              </a:rPr>
              <a:t>Five arcs to reference live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71554C9-6E35-40B8-B491-1EAF31E0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57300"/>
            <a:ext cx="1295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E6978"/>
                </a:solidFill>
              </a:defRPr>
            </a:pPr>
            <a:r>
              <a:rPr sz="2100">
                <a:solidFill>
                  <a:srgbClr val="5E6978"/>
                </a:solidFill>
              </a:rPr>
              <a:t>These are real cached action sequences, useful for narration while the graph animates.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CE35EB77-2163-4649-80EE-3B410277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5524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B61FF"/>
                </a:solidFill>
              </a:defRPr>
            </a:pPr>
            <a:r>
              <a:rPr sz="1500" b="1">
                <a:solidFill>
                  <a:srgbClr val="7B61FF"/>
                </a:solidFill>
              </a:rPr>
              <a:t>06</a:t>
            </a:r>
          </a:p>
        </p:txBody>
      </p:sp>
      <p:sp>
        <p:nvSpPr>
          <p:cNvPr id="5" name="artifact-Priya Shah">
            <a:extLst xmlns:a="http://schemas.openxmlformats.org/drawingml/2006/main">
              <a:ext uri="{FF2B5EF4-FFF2-40B4-BE49-F238E27FC236}">
                <a16:creationId xmlns:a16="http://schemas.microsoft.com/office/drawing/2014/main" id="{590CDA14-CA5D-48F5-A9E5-9C744C70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8162925" cy="2276475"/>
          </a:xfrm>
          <a:prstGeom xmlns:a="http://schemas.openxmlformats.org/drawingml/2006/main" prst="roundRect">
            <a:avLst>
              <a:gd name="adj" fmla="val 3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E0186-0CB2-4D83-9D8E-55919384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7639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F6F6C"/>
                </a:solidFill>
              </a:defRPr>
            </a:pPr>
            <a:r>
              <a:rPr sz="1350" b="1">
                <a:solidFill>
                  <a:srgbClr val="EF6F6C"/>
                </a:solidFill>
              </a:rPr>
              <a:t>Priya Shah</a:t>
            </a:r>
          </a:p>
        </p:txBody>
      </p:sp>
      <p:sp>
        <p:nvSpPr>
          <p:cNvPr id="7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9B09F2B1-D4D1-4A30-A1D7-A2C47F2F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763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manager message -&gt; exception request</a:t>
            </a:r>
          </a:p>
        </p:txBody>
      </p:sp>
      <p:sp>
        <p:nvSpPr>
          <p:cNvPr id="8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F45F15EC-D179-4643-9DD4-0AA3697D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763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channel post -&gt; LinkedIn -&gt; quiet</a:t>
            </a:r>
          </a:p>
        </p:txBody>
      </p:sp>
      <p:sp>
        <p:nvSpPr>
          <p:cNvPr id="9" name="artifact-Greg Stevens">
            <a:extLst xmlns:a="http://schemas.openxmlformats.org/drawingml/2006/main">
              <a:ext uri="{FF2B5EF4-FFF2-40B4-BE49-F238E27FC236}">
                <a16:creationId xmlns:a16="http://schemas.microsoft.com/office/drawing/2014/main" id="{81E64EC2-EFCA-40B0-8D79-DE979662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00250"/>
            <a:ext cx="8162925" cy="2276475"/>
          </a:xfrm>
          <a:prstGeom xmlns:a="http://schemas.openxmlformats.org/drawingml/2006/main" prst="roundRect">
            <a:avLst>
              <a:gd name="adj" fmla="val 3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0DCD3-9DF5-42D9-B674-A46B7D8B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28850"/>
            <a:ext cx="7639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Greg Stevens</a:t>
            </a:r>
          </a:p>
        </p:txBody>
      </p:sp>
      <p:sp>
        <p:nvSpPr>
          <p:cNvPr id="11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AB981293-0DDF-44A0-9CF4-3135984E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14600"/>
            <a:ext cx="763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manager message -&gt; formal exception</a:t>
            </a:r>
          </a:p>
        </p:txBody>
      </p:sp>
      <p:sp>
        <p:nvSpPr>
          <p:cNvPr id="12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3553CBFA-A3F3-49A5-AE93-6AFF62C8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57500"/>
            <a:ext cx="763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venting after radio silence</a:t>
            </a:r>
          </a:p>
        </p:txBody>
      </p:sp>
      <p:sp>
        <p:nvSpPr>
          <p:cNvPr id="13" name="artifact-Olivia Brooks">
            <a:extLst xmlns:a="http://schemas.openxmlformats.org/drawingml/2006/main">
              <a:ext uri="{FF2B5EF4-FFF2-40B4-BE49-F238E27FC236}">
                <a16:creationId xmlns:a16="http://schemas.microsoft.com/office/drawing/2014/main" id="{91C477CA-51F4-425F-BB46-C0D2E15A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86275"/>
            <a:ext cx="8162925" cy="2276475"/>
          </a:xfrm>
          <a:prstGeom xmlns:a="http://schemas.openxmlformats.org/drawingml/2006/main" prst="roundRect">
            <a:avLst>
              <a:gd name="adj" fmla="val 3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CFF4F-E07E-47CE-AD1E-EB678184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24400"/>
            <a:ext cx="7639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Olivia Brooks</a:t>
            </a:r>
          </a:p>
        </p:txBody>
      </p:sp>
      <p:sp>
        <p:nvSpPr>
          <p:cNvPr id="15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61906F41-7586-4825-A144-E051FD0B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10150"/>
            <a:ext cx="763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Boulder care-plan backstory</a:t>
            </a:r>
          </a:p>
        </p:txBody>
      </p:sp>
      <p:sp>
        <p:nvSpPr>
          <p:cNvPr id="16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99ABE094-2B7C-48CC-8EEB-C6DB90F3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34000"/>
            <a:ext cx="763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exception request then repeated channel posts</a:t>
            </a:r>
          </a:p>
        </p:txBody>
      </p:sp>
      <p:sp>
        <p:nvSpPr>
          <p:cNvPr id="17" name="artifact-Isabel Garcia">
            <a:extLst xmlns:a="http://schemas.openxmlformats.org/drawingml/2006/main">
              <a:ext uri="{FF2B5EF4-FFF2-40B4-BE49-F238E27FC236}">
                <a16:creationId xmlns:a16="http://schemas.microsoft.com/office/drawing/2014/main" id="{352BF70D-9EA5-411F-B5EA-051E7617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486275"/>
            <a:ext cx="8162925" cy="2276475"/>
          </a:xfrm>
          <a:prstGeom xmlns:a="http://schemas.openxmlformats.org/drawingml/2006/main" prst="roundRect">
            <a:avLst>
              <a:gd name="adj" fmla="val 3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2A4CA9-F105-4C87-8184-39B374B6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24400"/>
            <a:ext cx="7639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B61FF"/>
                </a:solidFill>
              </a:defRPr>
            </a:pPr>
            <a:r>
              <a:rPr sz="1350" b="1">
                <a:solidFill>
                  <a:srgbClr val="7B61FF"/>
                </a:solidFill>
              </a:rPr>
              <a:t>Isabel Garcia</a:t>
            </a:r>
          </a:p>
        </p:txBody>
      </p:sp>
      <p:sp>
        <p:nvSpPr>
          <p:cNvPr id="19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E96ABF69-E945-4FE0-8CBB-FE8B3B69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10150"/>
            <a:ext cx="763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remote caregiver for mother</a:t>
            </a:r>
          </a:p>
        </p:txBody>
      </p:sp>
      <p:sp>
        <p:nvSpPr>
          <p:cNvPr id="20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FC352EF1-BF34-441E-BBB6-6714E1AF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334000"/>
            <a:ext cx="763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manager escalation -&gt; LinkedIn signal</a:t>
            </a:r>
          </a:p>
        </p:txBody>
      </p:sp>
      <p:sp>
        <p:nvSpPr>
          <p:cNvPr id="21" name="artifact-Gabriel Santos">
            <a:extLst xmlns:a="http://schemas.openxmlformats.org/drawingml/2006/main">
              <a:ext uri="{FF2B5EF4-FFF2-40B4-BE49-F238E27FC236}">
                <a16:creationId xmlns:a16="http://schemas.microsoft.com/office/drawing/2014/main" id="{2C236E86-9843-49B3-AFB8-9D07A74F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972300"/>
            <a:ext cx="8162925" cy="2276475"/>
          </a:xfrm>
          <a:prstGeom xmlns:a="http://schemas.openxmlformats.org/drawingml/2006/main" prst="roundRect">
            <a:avLst>
              <a:gd name="adj" fmla="val 3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AFAA94-992F-4B64-9E49-DB99B91B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200900"/>
            <a:ext cx="7639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F6F6C"/>
                </a:solidFill>
              </a:defRPr>
            </a:pPr>
            <a:r>
              <a:rPr sz="1350" b="1">
                <a:solidFill>
                  <a:srgbClr val="EF6F6C"/>
                </a:solidFill>
              </a:rPr>
              <a:t>Gabriel Santos</a:t>
            </a:r>
          </a:p>
        </p:txBody>
      </p:sp>
      <p:sp>
        <p:nvSpPr>
          <p:cNvPr id="23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88D490F6-74A6-4A93-8A9B-F1E5FD32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486650"/>
            <a:ext cx="763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updates LinkedIn on day 2</a:t>
            </a:r>
          </a:p>
        </p:txBody>
      </p:sp>
      <p:sp>
        <p:nvSpPr>
          <p:cNvPr id="24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74B26328-8C9D-45DD-9D65-51AD33B0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829550"/>
            <a:ext cx="763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later says he is lining up interviews</a:t>
            </a:r>
          </a:p>
        </p:txBody>
      </p:sp>
      <p:sp>
        <p:nvSpPr>
          <p:cNvPr id="25" name="artifact-Sarah Kim">
            <a:extLst xmlns:a="http://schemas.openxmlformats.org/drawingml/2006/main">
              <a:ext uri="{FF2B5EF4-FFF2-40B4-BE49-F238E27FC236}">
                <a16:creationId xmlns:a16="http://schemas.microsoft.com/office/drawing/2014/main" id="{E9B2E5F8-A16A-401F-AC51-48DBD455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6972300"/>
            <a:ext cx="8162925" cy="2276475"/>
          </a:xfrm>
          <a:prstGeom xmlns:a="http://schemas.openxmlformats.org/drawingml/2006/main" prst="roundRect">
            <a:avLst>
              <a:gd name="adj" fmla="val 3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A86DFC-446F-4ED0-A229-C1FF721D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200900"/>
            <a:ext cx="7639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C94C"/>
                </a:solidFill>
              </a:defRPr>
            </a:pPr>
            <a:r>
              <a:rPr sz="1350" b="1">
                <a:solidFill>
                  <a:srgbClr val="F2C94C"/>
                </a:solidFill>
              </a:rPr>
              <a:t>Sarah Kim</a:t>
            </a:r>
          </a:p>
        </p:txBody>
      </p:sp>
      <p:sp>
        <p:nvSpPr>
          <p:cNvPr id="27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4974F3F8-5F5C-47A8-8B3C-6AD1FAFC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486650"/>
            <a:ext cx="763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manager warns VP about attrition</a:t>
            </a:r>
          </a:p>
        </p:txBody>
      </p:sp>
      <p:sp>
        <p:nvSpPr>
          <p:cNvPr id="28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34AFB85D-2D70-4AF9-BE0E-9E3C0F7F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829550"/>
            <a:ext cx="763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shows manager-level friction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AB4C6F8-A7B4-4AAD-9406-6E5297B8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393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30" name="footer-copy">
            <a:extLst xmlns:a="http://schemas.openxmlformats.org/drawingml/2006/main">
              <a:ext uri="{FF2B5EF4-FFF2-40B4-BE49-F238E27FC236}">
                <a16:creationId xmlns:a16="http://schemas.microsoft.com/office/drawing/2014/main" id="{7A7EF8E0-8720-4270-B764-54FE3CC1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9582150"/>
            <a:ext cx="15335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978"/>
                </a:solidFill>
              </a:defRPr>
            </a:pPr>
            <a:r>
              <a:rPr sz="1275">
                <a:solidFill>
                  <a:srgbClr val="5E6978"/>
                </a:solidFill>
              </a:rPr>
              <a:t>Lattice Predict hackathon deck | P4 build</a:t>
            </a:r>
          </a:p>
        </p:txBody>
      </p:sp>
    </p:spTree>
    <p:extLst>
      <p:ext uri="{BB962C8B-B14F-4D97-AF65-F5344CB8AC3E}">
        <p14:creationId xmlns:p14="http://schemas.microsoft.com/office/powerpoint/2010/main" val="20736286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7A8314AD-3229-4DD9-B4A7-D6E9B132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6D8572-D9A7-4C28-A6F5-11676ED1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"/>
            <a:ext cx="1409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</a:defRPr>
            </a:pPr>
            <a:r>
              <a:rPr sz="4350" b="1">
                <a:solidFill>
                  <a:srgbClr val="101820"/>
                </a:solidFill>
              </a:rPr>
              <a:t>Action mix is the proof layer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BA52DD1-2F36-4444-BB3C-C9B7FF61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57300"/>
            <a:ext cx="1295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E6978"/>
                </a:solidFill>
              </a:defRPr>
            </a:pPr>
            <a:r>
              <a:rPr sz="2100">
                <a:solidFill>
                  <a:srgbClr val="5E6978"/>
                </a:solidFill>
              </a:rPr>
              <a:t>The product does not tell users morale dropped; it shows what people did.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C745FA4E-CACA-4F91-97E8-E4970A76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5524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07</a:t>
            </a:r>
          </a:p>
        </p:txBody>
      </p:sp>
      <p:sp>
        <p:nvSpPr>
          <p:cNvPr id="5" name="bar-label-MESSAGE_MANAGER">
            <a:extLst xmlns:a="http://schemas.openxmlformats.org/drawingml/2006/main">
              <a:ext uri="{FF2B5EF4-FFF2-40B4-BE49-F238E27FC236}">
                <a16:creationId xmlns:a16="http://schemas.microsoft.com/office/drawing/2014/main" id="{F5A6D245-32C4-4CB2-A779-D7E00319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285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E6978"/>
                </a:solidFill>
              </a:defRPr>
            </a:pPr>
            <a:r>
              <a:rPr sz="1275" b="1">
                <a:solidFill>
                  <a:srgbClr val="5E6978"/>
                </a:solidFill>
              </a:rPr>
              <a:t>MESSAGE_MANAGER</a:t>
            </a:r>
          </a:p>
        </p:txBody>
      </p:sp>
      <p:sp>
        <p:nvSpPr>
          <p:cNvPr id="6" name="bar-MESSAGE_MANAGER">
            <a:extLst xmlns:a="http://schemas.openxmlformats.org/drawingml/2006/main">
              <a:ext uri="{FF2B5EF4-FFF2-40B4-BE49-F238E27FC236}">
                <a16:creationId xmlns:a16="http://schemas.microsoft.com/office/drawing/2014/main" id="{95622D10-50AF-4131-86CF-F6596EBA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00250"/>
            <a:ext cx="857250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bar-value-MESSAGE_MANAGER">
            <a:extLst xmlns:a="http://schemas.openxmlformats.org/drawingml/2006/main">
              <a:ext uri="{FF2B5EF4-FFF2-40B4-BE49-F238E27FC236}">
                <a16:creationId xmlns:a16="http://schemas.microsoft.com/office/drawing/2014/main" id="{3282EB34-A4C5-4A09-9218-A08D9E3A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0193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32</a:t>
            </a:r>
          </a:p>
        </p:txBody>
      </p:sp>
      <p:sp>
        <p:nvSpPr>
          <p:cNvPr id="8" name="bar-label-VENT_TO_PEER">
            <a:extLst xmlns:a="http://schemas.openxmlformats.org/drawingml/2006/main">
              <a:ext uri="{FF2B5EF4-FFF2-40B4-BE49-F238E27FC236}">
                <a16:creationId xmlns:a16="http://schemas.microsoft.com/office/drawing/2014/main" id="{60965844-5AFF-4278-A7EE-10DA2D2B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285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E6978"/>
                </a:solidFill>
              </a:defRPr>
            </a:pPr>
            <a:r>
              <a:rPr sz="1275" b="1">
                <a:solidFill>
                  <a:srgbClr val="5E6978"/>
                </a:solidFill>
              </a:rPr>
              <a:t>VENT_TO_PEER</a:t>
            </a:r>
          </a:p>
        </p:txBody>
      </p:sp>
      <p:sp>
        <p:nvSpPr>
          <p:cNvPr id="9" name="bar-VENT_TO_PEER">
            <a:extLst xmlns:a="http://schemas.openxmlformats.org/drawingml/2006/main">
              <a:ext uri="{FF2B5EF4-FFF2-40B4-BE49-F238E27FC236}">
                <a16:creationId xmlns:a16="http://schemas.microsoft.com/office/drawing/2014/main" id="{BEA9B353-F328-48AC-9B8E-6D4E5571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00300"/>
            <a:ext cx="6696075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6F6C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bar-value-VENT_TO_PEER">
            <a:extLst xmlns:a="http://schemas.openxmlformats.org/drawingml/2006/main">
              <a:ext uri="{FF2B5EF4-FFF2-40B4-BE49-F238E27FC236}">
                <a16:creationId xmlns:a16="http://schemas.microsoft.com/office/drawing/2014/main" id="{EA54EC85-BD3B-4658-9574-7327763A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4193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25</a:t>
            </a:r>
          </a:p>
        </p:txBody>
      </p:sp>
      <p:sp>
        <p:nvSpPr>
          <p:cNvPr id="11" name="bar-label-REQUEST_EXCEPTION">
            <a:extLst xmlns:a="http://schemas.openxmlformats.org/drawingml/2006/main">
              <a:ext uri="{FF2B5EF4-FFF2-40B4-BE49-F238E27FC236}">
                <a16:creationId xmlns:a16="http://schemas.microsoft.com/office/drawing/2014/main" id="{7CD7D033-4E4C-405B-93AD-9031B10A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285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E6978"/>
                </a:solidFill>
              </a:defRPr>
            </a:pPr>
            <a:r>
              <a:rPr sz="1275" b="1">
                <a:solidFill>
                  <a:srgbClr val="5E6978"/>
                </a:solidFill>
              </a:rPr>
              <a:t>REQUEST_EXCEPTION</a:t>
            </a:r>
          </a:p>
        </p:txBody>
      </p:sp>
      <p:sp>
        <p:nvSpPr>
          <p:cNvPr id="12" name="bar-REQUEST_EXCEPTION">
            <a:extLst xmlns:a="http://schemas.openxmlformats.org/drawingml/2006/main">
              <a:ext uri="{FF2B5EF4-FFF2-40B4-BE49-F238E27FC236}">
                <a16:creationId xmlns:a16="http://schemas.microsoft.com/office/drawing/2014/main" id="{F203E8C3-CEEA-46EA-B9BD-367DE7C1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81300"/>
            <a:ext cx="455295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bar-value-REQUEST_EXCEPTION">
            <a:extLst xmlns:a="http://schemas.openxmlformats.org/drawingml/2006/main">
              <a:ext uri="{FF2B5EF4-FFF2-40B4-BE49-F238E27FC236}">
                <a16:creationId xmlns:a16="http://schemas.microsoft.com/office/drawing/2014/main" id="{0F3B8C58-A428-4F35-8943-5D8E3D75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17</a:t>
            </a:r>
          </a:p>
        </p:txBody>
      </p:sp>
      <p:sp>
        <p:nvSpPr>
          <p:cNvPr id="14" name="bar-label-POST_IN_CHANNEL">
            <a:extLst xmlns:a="http://schemas.openxmlformats.org/drawingml/2006/main">
              <a:ext uri="{FF2B5EF4-FFF2-40B4-BE49-F238E27FC236}">
                <a16:creationId xmlns:a16="http://schemas.microsoft.com/office/drawing/2014/main" id="{2800533C-C8BF-46F7-85DE-7397960E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285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E6978"/>
                </a:solidFill>
              </a:defRPr>
            </a:pPr>
            <a:r>
              <a:rPr sz="1275" b="1">
                <a:solidFill>
                  <a:srgbClr val="5E6978"/>
                </a:solidFill>
              </a:rPr>
              <a:t>POST_IN_CHANNEL</a:t>
            </a:r>
          </a:p>
        </p:txBody>
      </p:sp>
      <p:sp>
        <p:nvSpPr>
          <p:cNvPr id="15" name="bar-POST_IN_CHANNEL">
            <a:extLst xmlns:a="http://schemas.openxmlformats.org/drawingml/2006/main">
              <a:ext uri="{FF2B5EF4-FFF2-40B4-BE49-F238E27FC236}">
                <a16:creationId xmlns:a16="http://schemas.microsoft.com/office/drawing/2014/main" id="{D18ED514-125F-40E3-8C12-740191F1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81350"/>
            <a:ext cx="401955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7B61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bar-value-POST_IN_CHANNEL">
            <a:extLst xmlns:a="http://schemas.openxmlformats.org/drawingml/2006/main">
              <a:ext uri="{FF2B5EF4-FFF2-40B4-BE49-F238E27FC236}">
                <a16:creationId xmlns:a16="http://schemas.microsoft.com/office/drawing/2014/main" id="{2C6951AF-BD5C-469D-B69E-44B9721D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004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15</a:t>
            </a:r>
          </a:p>
        </p:txBody>
      </p:sp>
      <p:sp>
        <p:nvSpPr>
          <p:cNvPr id="17" name="bar-label-UPDATE_LINKEDIN">
            <a:extLst xmlns:a="http://schemas.openxmlformats.org/drawingml/2006/main">
              <a:ext uri="{FF2B5EF4-FFF2-40B4-BE49-F238E27FC236}">
                <a16:creationId xmlns:a16="http://schemas.microsoft.com/office/drawing/2014/main" id="{5EA78603-F447-4746-8B16-10ADCCB4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285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E6978"/>
                </a:solidFill>
              </a:defRPr>
            </a:pPr>
            <a:r>
              <a:rPr sz="1275" b="1">
                <a:solidFill>
                  <a:srgbClr val="5E6978"/>
                </a:solidFill>
              </a:rPr>
              <a:t>UPDATE_LINKEDIN</a:t>
            </a:r>
          </a:p>
        </p:txBody>
      </p:sp>
      <p:sp>
        <p:nvSpPr>
          <p:cNvPr id="18" name="bar-UPDATE_LINKEDIN">
            <a:extLst xmlns:a="http://schemas.openxmlformats.org/drawingml/2006/main">
              <a:ext uri="{FF2B5EF4-FFF2-40B4-BE49-F238E27FC236}">
                <a16:creationId xmlns:a16="http://schemas.microsoft.com/office/drawing/2014/main" id="{B3E47790-9F75-4CDF-A765-028F237B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62350"/>
            <a:ext cx="375285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A87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bar-value-UPDATE_LINKEDIN">
            <a:extLst xmlns:a="http://schemas.openxmlformats.org/drawingml/2006/main">
              <a:ext uri="{FF2B5EF4-FFF2-40B4-BE49-F238E27FC236}">
                <a16:creationId xmlns:a16="http://schemas.microsoft.com/office/drawing/2014/main" id="{BE203D78-C418-44AB-A7F7-55B7E029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814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14</a:t>
            </a:r>
          </a:p>
        </p:txBody>
      </p:sp>
      <p:sp>
        <p:nvSpPr>
          <p:cNvPr id="20" name="bar-label-DO_NOTHING">
            <a:extLst xmlns:a="http://schemas.openxmlformats.org/drawingml/2006/main">
              <a:ext uri="{FF2B5EF4-FFF2-40B4-BE49-F238E27FC236}">
                <a16:creationId xmlns:a16="http://schemas.microsoft.com/office/drawing/2014/main" id="{9C797787-0D0D-4AEB-89F4-0CC7B528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285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E6978"/>
                </a:solidFill>
              </a:defRPr>
            </a:pPr>
            <a:r>
              <a:rPr sz="1275" b="1">
                <a:solidFill>
                  <a:srgbClr val="5E6978"/>
                </a:solidFill>
              </a:rPr>
              <a:t>DO_NOTHING</a:t>
            </a:r>
          </a:p>
        </p:txBody>
      </p:sp>
      <p:sp>
        <p:nvSpPr>
          <p:cNvPr id="21" name="bar-DO_NOTHING">
            <a:extLst xmlns:a="http://schemas.openxmlformats.org/drawingml/2006/main">
              <a:ext uri="{FF2B5EF4-FFF2-40B4-BE49-F238E27FC236}">
                <a16:creationId xmlns:a16="http://schemas.microsoft.com/office/drawing/2014/main" id="{81E9EB5D-3637-456C-B644-0D9EA43F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62400"/>
            <a:ext cx="2943225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5E697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bar-value-DO_NOTHING">
            <a:extLst xmlns:a="http://schemas.openxmlformats.org/drawingml/2006/main">
              <a:ext uri="{FF2B5EF4-FFF2-40B4-BE49-F238E27FC236}">
                <a16:creationId xmlns:a16="http://schemas.microsoft.com/office/drawing/2014/main" id="{C605DC36-9851-4FEF-AF8C-AE24BD7F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814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11</a:t>
            </a:r>
          </a:p>
        </p:txBody>
      </p:sp>
      <p:sp>
        <p:nvSpPr>
          <p:cNvPr id="23" name="bar-label-ADVOCATE">
            <a:extLst xmlns:a="http://schemas.openxmlformats.org/drawingml/2006/main">
              <a:ext uri="{FF2B5EF4-FFF2-40B4-BE49-F238E27FC236}">
                <a16:creationId xmlns:a16="http://schemas.microsoft.com/office/drawing/2014/main" id="{C2990F47-1888-4A74-802E-5177B9FD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85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E6978"/>
                </a:solidFill>
              </a:defRPr>
            </a:pPr>
            <a:r>
              <a:rPr sz="1275" b="1">
                <a:solidFill>
                  <a:srgbClr val="5E6978"/>
                </a:solidFill>
              </a:rPr>
              <a:t>ADVOCATE</a:t>
            </a:r>
          </a:p>
        </p:txBody>
      </p:sp>
      <p:sp>
        <p:nvSpPr>
          <p:cNvPr id="24" name="bar-ADVOCATE">
            <a:extLst xmlns:a="http://schemas.openxmlformats.org/drawingml/2006/main">
              <a:ext uri="{FF2B5EF4-FFF2-40B4-BE49-F238E27FC236}">
                <a16:creationId xmlns:a16="http://schemas.microsoft.com/office/drawing/2014/main" id="{32A19444-EE38-4D8D-90E3-86A270A7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43400"/>
            <a:ext cx="1076325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A87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bar-value-ADVOCATE">
            <a:extLst xmlns:a="http://schemas.openxmlformats.org/drawingml/2006/main">
              <a:ext uri="{FF2B5EF4-FFF2-40B4-BE49-F238E27FC236}">
                <a16:creationId xmlns:a16="http://schemas.microsoft.com/office/drawing/2014/main" id="{E704154B-50FC-4490-A6DC-CFE76873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624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4</a:t>
            </a:r>
          </a:p>
        </p:txBody>
      </p:sp>
      <p:sp>
        <p:nvSpPr>
          <p:cNvPr id="26" name="bar-label-GO_QUIET">
            <a:extLst xmlns:a="http://schemas.openxmlformats.org/drawingml/2006/main">
              <a:ext uri="{FF2B5EF4-FFF2-40B4-BE49-F238E27FC236}">
                <a16:creationId xmlns:a16="http://schemas.microsoft.com/office/drawing/2014/main" id="{C2C44B11-ED14-4781-8D51-20EBE5CA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285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E6978"/>
                </a:solidFill>
              </a:defRPr>
            </a:pPr>
            <a:r>
              <a:rPr sz="1275" b="1">
                <a:solidFill>
                  <a:srgbClr val="5E6978"/>
                </a:solidFill>
              </a:rPr>
              <a:t>GO_QUIET</a:t>
            </a:r>
          </a:p>
        </p:txBody>
      </p:sp>
      <p:sp>
        <p:nvSpPr>
          <p:cNvPr id="27" name="bar-GO_QUIET">
            <a:extLst xmlns:a="http://schemas.openxmlformats.org/drawingml/2006/main">
              <a:ext uri="{FF2B5EF4-FFF2-40B4-BE49-F238E27FC236}">
                <a16:creationId xmlns:a16="http://schemas.microsoft.com/office/drawing/2014/main" id="{F87BFCAC-674E-46BB-8AC6-34B2E016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43450"/>
            <a:ext cx="80010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bar-value-GO_QUIET">
            <a:extLst xmlns:a="http://schemas.openxmlformats.org/drawingml/2006/main">
              <a:ext uri="{FF2B5EF4-FFF2-40B4-BE49-F238E27FC236}">
                <a16:creationId xmlns:a16="http://schemas.microsoft.com/office/drawing/2014/main" id="{19CDB847-94A5-4774-8587-E3701FF2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7625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3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2504B38-1F19-42FA-97AE-FD6AC41E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393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30" name="footer-copy">
            <a:extLst xmlns:a="http://schemas.openxmlformats.org/drawingml/2006/main">
              <a:ext uri="{FF2B5EF4-FFF2-40B4-BE49-F238E27FC236}">
                <a16:creationId xmlns:a16="http://schemas.microsoft.com/office/drawing/2014/main" id="{CD02B113-E082-48A4-873F-B254C0F9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9582150"/>
            <a:ext cx="15335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978"/>
                </a:solidFill>
              </a:defRPr>
            </a:pPr>
            <a:r>
              <a:rPr sz="1275">
                <a:solidFill>
                  <a:srgbClr val="5E6978"/>
                </a:solidFill>
              </a:rPr>
              <a:t>Source: backend/tests/last_result.json action_volume_summary</a:t>
            </a:r>
          </a:p>
        </p:txBody>
      </p:sp>
    </p:spTree>
    <p:extLst>
      <p:ext uri="{BB962C8B-B14F-4D97-AF65-F5344CB8AC3E}">
        <p14:creationId xmlns:p14="http://schemas.microsoft.com/office/powerpoint/2010/main" val="17704606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8B5962F1-E32B-4833-95C2-BC5CE281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75AA34-D5F5-427E-B7BF-71FED9B7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"/>
            <a:ext cx="1409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</a:defRPr>
            </a:pPr>
            <a:r>
              <a:rPr sz="4350" b="1">
                <a:solidFill>
                  <a:srgbClr val="101820"/>
                </a:solidFill>
              </a:rPr>
              <a:t>P4 theme engine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3A0042B-9DFC-46C8-8C6A-6E40CFCC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57300"/>
            <a:ext cx="1295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E6978"/>
                </a:solidFill>
              </a:defRPr>
            </a:pPr>
            <a:r>
              <a:rPr sz="2100">
                <a:solidFill>
                  <a:srgbClr val="5E6978"/>
                </a:solidFill>
              </a:rPr>
              <a:t>Clusters real action.content strings into 3 themes with quote refs the feed can link back to.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4A76942D-D3C3-4A53-9CAE-66623FF9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5524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78"/>
                </a:solidFill>
              </a:defRPr>
            </a:pPr>
            <a:r>
              <a:rPr sz="1500" b="1">
                <a:solidFill>
                  <a:srgbClr val="00A878"/>
                </a:solidFill>
              </a:rPr>
              <a:t>08</a:t>
            </a:r>
          </a:p>
        </p:txBody>
      </p:sp>
      <p:sp>
        <p:nvSpPr>
          <p:cNvPr id="5" name="artifact-Commute strain">
            <a:extLst xmlns:a="http://schemas.openxmlformats.org/drawingml/2006/main">
              <a:ext uri="{FF2B5EF4-FFF2-40B4-BE49-F238E27FC236}">
                <a16:creationId xmlns:a16="http://schemas.microsoft.com/office/drawing/2014/main" id="{99C0C0D8-F7C2-4B29-9F3C-DE5FCECD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5372100" cy="7248525"/>
          </a:xfrm>
          <a:prstGeom xmlns:a="http://schemas.openxmlformats.org/drawingml/2006/main" prst="roundRect">
            <a:avLst>
              <a:gd name="adj" fmla="val 14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9995B-95E1-4E61-ABE2-960BA6EE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4838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F6F6C"/>
                </a:solidFill>
              </a:defRPr>
            </a:pPr>
            <a:r>
              <a:rPr sz="1350" b="1">
                <a:solidFill>
                  <a:srgbClr val="EF6F6C"/>
                </a:solidFill>
              </a:rPr>
              <a:t>Commute strain</a:t>
            </a:r>
          </a:p>
        </p:txBody>
      </p:sp>
      <p:sp>
        <p:nvSpPr>
          <p:cNvPr id="7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AAC33ADF-9894-4840-8276-9B46BEA3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483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41 messages</a:t>
            </a:r>
          </a:p>
        </p:txBody>
      </p:sp>
      <p:sp>
        <p:nvSpPr>
          <p:cNvPr id="8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D51A5150-CB54-4DB2-A04C-268DA9DA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4838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Representative quote IDs: act_d00_01, act_d03_00, act_d03_02</a:t>
            </a:r>
          </a:p>
        </p:txBody>
      </p:sp>
      <p:sp>
        <p:nvSpPr>
          <p:cNvPr id="9" name="artifact-Loss of flexibility">
            <a:extLst xmlns:a="http://schemas.openxmlformats.org/drawingml/2006/main">
              <a:ext uri="{FF2B5EF4-FFF2-40B4-BE49-F238E27FC236}">
                <a16:creationId xmlns:a16="http://schemas.microsoft.com/office/drawing/2014/main" id="{D0F2B01B-31A5-4A6A-83FE-DF21C2B8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5372100" cy="7248525"/>
          </a:xfrm>
          <a:prstGeom xmlns:a="http://schemas.openxmlformats.org/drawingml/2006/main" prst="roundRect">
            <a:avLst>
              <a:gd name="adj" fmla="val 14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12D27-B7CB-443A-9944-3567835E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28850"/>
            <a:ext cx="4838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Loss of flexibility</a:t>
            </a:r>
          </a:p>
        </p:txBody>
      </p:sp>
      <p:sp>
        <p:nvSpPr>
          <p:cNvPr id="11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3AD25227-E323-4413-943D-4C297D34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14600"/>
            <a:ext cx="483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20 messages</a:t>
            </a:r>
          </a:p>
        </p:txBody>
      </p:sp>
      <p:sp>
        <p:nvSpPr>
          <p:cNvPr id="12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2B3293B1-52E6-44FA-879B-E5AF22D7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4838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Remote hires and schedule autonomy show up repeatedly</a:t>
            </a:r>
          </a:p>
        </p:txBody>
      </p:sp>
      <p:sp>
        <p:nvSpPr>
          <p:cNvPr id="13" name="artifact-Caregiving burden">
            <a:extLst xmlns:a="http://schemas.openxmlformats.org/drawingml/2006/main">
              <a:ext uri="{FF2B5EF4-FFF2-40B4-BE49-F238E27FC236}">
                <a16:creationId xmlns:a16="http://schemas.microsoft.com/office/drawing/2014/main" id="{39C9B564-6E3A-4F46-871B-50830299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000250"/>
            <a:ext cx="5372100" cy="7248525"/>
          </a:xfrm>
          <a:prstGeom xmlns:a="http://schemas.openxmlformats.org/drawingml/2006/main" prst="roundRect">
            <a:avLst>
              <a:gd name="adj" fmla="val 14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E0D7B-3169-41AA-BD30-399C0CEC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228850"/>
            <a:ext cx="4838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Caregiving burden</a:t>
            </a:r>
          </a:p>
        </p:txBody>
      </p:sp>
      <p:sp>
        <p:nvSpPr>
          <p:cNvPr id="15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A6AB8F71-8E97-4148-8826-31658855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514600"/>
            <a:ext cx="483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16 messages</a:t>
            </a:r>
          </a:p>
        </p:txBody>
      </p:sp>
      <p:sp>
        <p:nvSpPr>
          <p:cNvPr id="16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117791F4-ACE7-4947-A94E-676DA2ED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857500"/>
            <a:ext cx="4838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Kids, eldercare, therapy schedules, and pickup windows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A83B3FD-0130-4832-A0D9-FC84CFB1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393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18" name="footer-copy">
            <a:extLst xmlns:a="http://schemas.openxmlformats.org/drawingml/2006/main">
              <a:ext uri="{FF2B5EF4-FFF2-40B4-BE49-F238E27FC236}">
                <a16:creationId xmlns:a16="http://schemas.microsoft.com/office/drawing/2014/main" id="{2742B4E4-586B-4220-B145-78B4FA5A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9582150"/>
            <a:ext cx="15335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978"/>
                </a:solidFill>
              </a:defRPr>
            </a:pPr>
            <a:r>
              <a:rPr sz="1275">
                <a:solidFill>
                  <a:srgbClr val="5E6978"/>
                </a:solidFill>
              </a:rPr>
              <a:t>Lattice Predict hackathon deck | P4 build</a:t>
            </a:r>
          </a:p>
        </p:txBody>
      </p:sp>
    </p:spTree>
    <p:extLst>
      <p:ext uri="{BB962C8B-B14F-4D97-AF65-F5344CB8AC3E}">
        <p14:creationId xmlns:p14="http://schemas.microsoft.com/office/powerpoint/2010/main" val="1163359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4C0441F1-91CB-41EE-892D-81DBFB3F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FE1F41-E361-4F2F-9777-794A84F3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"/>
            <a:ext cx="1409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</a:defRPr>
            </a:pPr>
            <a:r>
              <a:rPr sz="4350" b="1">
                <a:solidFill>
                  <a:srgbClr val="101820"/>
                </a:solidFill>
              </a:rPr>
              <a:t>P4 recommendation engine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BA82877-D875-493A-BEC4-DE3DEAF7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57300"/>
            <a:ext cx="1295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E6978"/>
                </a:solidFill>
              </a:defRPr>
            </a:pPr>
            <a:r>
              <a:rPr sz="2100">
                <a:solidFill>
                  <a:srgbClr val="5E6978"/>
                </a:solidFill>
              </a:rPr>
              <a:t>Turns top concerns into a policy rewrite, not a generic advice paragraph.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55EDDDC3-1888-4440-BA74-639D6952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5524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78"/>
                </a:solidFill>
              </a:defRPr>
            </a:pPr>
            <a:r>
              <a:rPr sz="1500" b="1">
                <a:solidFill>
                  <a:srgbClr val="00A878"/>
                </a:solidFill>
              </a:rPr>
              <a:t>09</a:t>
            </a:r>
          </a:p>
        </p:txBody>
      </p:sp>
      <p:sp>
        <p:nvSpPr>
          <p:cNvPr id="5" name="metric-value-negative action reduction">
            <a:extLst xmlns:a="http://schemas.openxmlformats.org/drawingml/2006/main">
              <a:ext uri="{FF2B5EF4-FFF2-40B4-BE49-F238E27FC236}">
                <a16:creationId xmlns:a16="http://schemas.microsoft.com/office/drawing/2014/main" id="{69B76DA8-B851-470A-A934-1A4DDB32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72580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00A878"/>
                </a:solidFill>
              </a:defRPr>
            </a:pPr>
            <a:r>
              <a:rPr sz="6900" b="1">
                <a:solidFill>
                  <a:srgbClr val="00A878"/>
                </a:solidFill>
              </a:rPr>
              <a:t>60%</a:t>
            </a:r>
          </a:p>
        </p:txBody>
      </p:sp>
      <p:sp>
        <p:nvSpPr>
          <p:cNvPr id="6" name="metric-caption-negative action reduction">
            <a:extLst xmlns:a="http://schemas.openxmlformats.org/drawingml/2006/main">
              <a:ext uri="{FF2B5EF4-FFF2-40B4-BE49-F238E27FC236}">
                <a16:creationId xmlns:a16="http://schemas.microsoft.com/office/drawing/2014/main" id="{D7B5FD4A-4DFA-4DE5-A3D0-5D395E29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7258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6978"/>
                </a:solidFill>
              </a:defRPr>
            </a:pPr>
            <a:r>
              <a:rPr sz="1350" b="1">
                <a:solidFill>
                  <a:srgbClr val="5E6978"/>
                </a:solidFill>
              </a:rPr>
              <a:t>negative action reduction</a:t>
            </a:r>
          </a:p>
        </p:txBody>
      </p:sp>
      <p:sp>
        <p:nvSpPr>
          <p:cNvPr id="7" name="metric-value-LinkedIn updates avoided">
            <a:extLst xmlns:a="http://schemas.openxmlformats.org/drawingml/2006/main">
              <a:ext uri="{FF2B5EF4-FFF2-40B4-BE49-F238E27FC236}">
                <a16:creationId xmlns:a16="http://schemas.microsoft.com/office/drawing/2014/main" id="{EEC59258-F37F-4624-8E6C-4327C291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72580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7B61FF"/>
                </a:solidFill>
              </a:defRPr>
            </a:pPr>
            <a:r>
              <a:rPr sz="6900" b="1">
                <a:solidFill>
                  <a:srgbClr val="7B61FF"/>
                </a:solidFill>
              </a:rPr>
              <a:t>6</a:t>
            </a:r>
          </a:p>
        </p:txBody>
      </p:sp>
      <p:sp>
        <p:nvSpPr>
          <p:cNvPr id="8" name="metric-caption-LinkedIn updates avoided">
            <a:extLst xmlns:a="http://schemas.openxmlformats.org/drawingml/2006/main">
              <a:ext uri="{FF2B5EF4-FFF2-40B4-BE49-F238E27FC236}">
                <a16:creationId xmlns:a16="http://schemas.microsoft.com/office/drawing/2014/main" id="{A144CAD6-1B9E-4BAF-BE3C-ECF22339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7258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6978"/>
                </a:solidFill>
              </a:defRPr>
            </a:pPr>
            <a:r>
              <a:rPr sz="1350" b="1">
                <a:solidFill>
                  <a:srgbClr val="5E6978"/>
                </a:solidFill>
              </a:rPr>
              <a:t>LinkedIn updates avoided</a:t>
            </a:r>
          </a:p>
        </p:txBody>
      </p:sp>
      <p:sp>
        <p:nvSpPr>
          <p:cNvPr id="9" name="artifact-Recommended rewrite">
            <a:extLst xmlns:a="http://schemas.openxmlformats.org/drawingml/2006/main">
              <a:ext uri="{FF2B5EF4-FFF2-40B4-BE49-F238E27FC236}">
                <a16:creationId xmlns:a16="http://schemas.microsoft.com/office/drawing/2014/main" id="{D9C43394-BB74-4AC0-9618-5D7F6C47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4408" y="2000250"/>
            <a:ext cx="8874443" cy="7248525"/>
          </a:xfrm>
          <a:prstGeom xmlns:a="http://schemas.openxmlformats.org/drawingml/2006/main" prst="roundRect">
            <a:avLst>
              <a:gd name="adj" fmla="val 1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25D7B-EC8A-447C-8D87-31A9D06B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834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Recommended rewrite</a:t>
            </a:r>
          </a:p>
        </p:txBody>
      </p:sp>
      <p:sp>
        <p:nvSpPr>
          <p:cNvPr id="11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BE655276-55DF-4A8E-90C5-24CA0D71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1460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Move to phased hybrid rollout.</a:t>
            </a:r>
          </a:p>
        </p:txBody>
      </p:sp>
      <p:sp>
        <p:nvSpPr>
          <p:cNvPr id="12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B8F6A4A4-599B-477D-B0EA-7F2EE464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8343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Guarantee caregiving, medical, accessibility, commute-hardship, and remote-role exceptions through People Ops.</a:t>
            </a:r>
          </a:p>
        </p:txBody>
      </p:sp>
      <p:sp>
        <p:nvSpPr>
          <p:cNvPr id="13" name="artifact-line-2">
            <a:extLst xmlns:a="http://schemas.openxmlformats.org/drawingml/2006/main">
              <a:ext uri="{FF2B5EF4-FFF2-40B4-BE49-F238E27FC236}">
                <a16:creationId xmlns:a16="http://schemas.microsoft.com/office/drawing/2014/main" id="{BE9A33FD-98DF-4741-80EE-57808605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0995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Use June-August as a ramp, then pulse at 30 and 90 days.</a:t>
            </a:r>
          </a:p>
        </p:txBody>
      </p:sp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18D610F-456E-4631-9A09-BBF6D17B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393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15" name="footer-copy">
            <a:extLst xmlns:a="http://schemas.openxmlformats.org/drawingml/2006/main">
              <a:ext uri="{FF2B5EF4-FFF2-40B4-BE49-F238E27FC236}">
                <a16:creationId xmlns:a16="http://schemas.microsoft.com/office/drawing/2014/main" id="{BBB40AAD-9807-4820-B02C-B26F697E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9582150"/>
            <a:ext cx="15335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978"/>
                </a:solidFill>
              </a:defRPr>
            </a:pPr>
            <a:r>
              <a:rPr sz="1275">
                <a:solidFill>
                  <a:srgbClr val="5E6978"/>
                </a:solidFill>
              </a:rPr>
              <a:t>Lattice Predict hackathon deck | P4 build</a:t>
            </a:r>
          </a:p>
        </p:txBody>
      </p:sp>
    </p:spTree>
    <p:extLst>
      <p:ext uri="{BB962C8B-B14F-4D97-AF65-F5344CB8AC3E}">
        <p14:creationId xmlns:p14="http://schemas.microsoft.com/office/powerpoint/2010/main" val="21437911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E1229A6B-97EE-485B-8873-185328E2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7218B7-618D-453B-9328-F388A74E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"/>
            <a:ext cx="1409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</a:defRPr>
            </a:pPr>
            <a:r>
              <a:rPr sz="4350" b="1">
                <a:solidFill>
                  <a:srgbClr val="101820"/>
                </a:solidFill>
              </a:rPr>
              <a:t>Where P4 plugs in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F9689F-69D4-4CC8-A459-81799077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57300"/>
            <a:ext cx="1295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E6978"/>
                </a:solidFill>
              </a:defRPr>
            </a:pPr>
            <a:r>
              <a:rPr sz="2100">
                <a:solidFill>
                  <a:srgbClr val="5E6978"/>
                </a:solidFill>
              </a:rPr>
              <a:t>The modules sit after deterministic sentiment aggregation and before final result JSON.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BB52B18E-2DCB-421C-9BF7-65ACCF37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5524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10</a:t>
            </a:r>
          </a:p>
        </p:txBody>
      </p:sp>
      <p:sp>
        <p:nvSpPr>
          <p:cNvPr id="5" name="flow-rule-Actions">
            <a:extLst xmlns:a="http://schemas.openxmlformats.org/drawingml/2006/main">
              <a:ext uri="{FF2B5EF4-FFF2-40B4-BE49-F238E27FC236}">
                <a16:creationId xmlns:a16="http://schemas.microsoft.com/office/drawing/2014/main" id="{D33F338D-FB0D-4E10-87D7-EDE27B30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EF6F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E478A-CCAF-4E6D-8A1E-69042BCD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F6F6C"/>
                </a:solidFill>
              </a:defRPr>
            </a:pPr>
            <a:r>
              <a:rPr sz="1350" b="1">
                <a:solidFill>
                  <a:srgbClr val="EF6F6C"/>
                </a:solidFill>
              </a:rPr>
              <a:t>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0FCD5-3737-4D73-A656-3E1CAE1E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4000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121 workplace actions over 30 simulated days.</a:t>
            </a:r>
          </a:p>
        </p:txBody>
      </p:sp>
      <p:sp>
        <p:nvSpPr>
          <p:cNvPr id="8" name="flow-rule-Themes">
            <a:extLst xmlns:a="http://schemas.openxmlformats.org/drawingml/2006/main">
              <a:ext uri="{FF2B5EF4-FFF2-40B4-BE49-F238E27FC236}">
                <a16:creationId xmlns:a16="http://schemas.microsoft.com/office/drawing/2014/main" id="{94CAF835-E04C-4C85-82F3-E21C1171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00250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596AD-82B9-48DD-B13F-E0CF477E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9075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Themes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5F8D8-9BE3-4F8A-87E1-57DE9550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4000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Cluster content and attach real action_id quote refs.</a:t>
            </a:r>
          </a:p>
        </p:txBody>
      </p:sp>
      <p:sp>
        <p:nvSpPr>
          <p:cNvPr id="11" name="flow-rule-Rewrite">
            <a:extLst xmlns:a="http://schemas.openxmlformats.org/drawingml/2006/main">
              <a:ext uri="{FF2B5EF4-FFF2-40B4-BE49-F238E27FC236}">
                <a16:creationId xmlns:a16="http://schemas.microsoft.com/office/drawing/2014/main" id="{BA145519-F362-4E68-BF52-D6895D26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00250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FA714-0449-4EE0-8AC0-E902086E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9075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Rewrite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4B857-0FDD-4242-9F3E-C47F0A7A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76500"/>
            <a:ext cx="4000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Generate HR-ready v2 text with projected impact.</a:t>
            </a:r>
          </a:p>
        </p:txBody>
      </p:sp>
      <p:sp>
        <p:nvSpPr>
          <p:cNvPr id="14" name="flow-rule-Cohorts">
            <a:extLst xmlns:a="http://schemas.openxmlformats.org/drawingml/2006/main">
              <a:ext uri="{FF2B5EF4-FFF2-40B4-BE49-F238E27FC236}">
                <a16:creationId xmlns:a16="http://schemas.microsoft.com/office/drawing/2014/main" id="{A8A4351E-0CD6-4D4D-BF65-35B6EC2F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2000250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0">
            <a:solidFill>
              <a:srgbClr val="7B61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B0A2A-95E1-4A95-9D9C-6A8AEA87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219075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B61FF"/>
                </a:solidFill>
              </a:defRPr>
            </a:pPr>
            <a:r>
              <a:rPr sz="1350" b="1">
                <a:solidFill>
                  <a:srgbClr val="7B61FF"/>
                </a:solidFill>
              </a:rPr>
              <a:t>Cohorts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44234-5F62-40DE-B7C7-7F3C7ED6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2476500"/>
            <a:ext cx="4000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Use themes for top_concern by department.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F714BBA-83DD-4D6A-9CCF-2252949C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393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18" name="footer-copy">
            <a:extLst xmlns:a="http://schemas.openxmlformats.org/drawingml/2006/main">
              <a:ext uri="{FF2B5EF4-FFF2-40B4-BE49-F238E27FC236}">
                <a16:creationId xmlns:a16="http://schemas.microsoft.com/office/drawing/2014/main" id="{F2EDDD3A-5C54-4028-8908-2E5B6E06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9582150"/>
            <a:ext cx="15335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978"/>
                </a:solidFill>
              </a:defRPr>
            </a:pPr>
            <a:r>
              <a:rPr sz="1275">
                <a:solidFill>
                  <a:srgbClr val="5E6978"/>
                </a:solidFill>
              </a:rPr>
              <a:t>Lattice Predict hackathon deck | P4 build</a:t>
            </a:r>
          </a:p>
        </p:txBody>
      </p:sp>
    </p:spTree>
    <p:extLst>
      <p:ext uri="{BB962C8B-B14F-4D97-AF65-F5344CB8AC3E}">
        <p14:creationId xmlns:p14="http://schemas.microsoft.com/office/powerpoint/2010/main" val="209986279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674454B9-9FF3-4DC3-B292-7AAAD73A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F2C94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1E7DE7-A0AC-4B6C-B96E-A5F9CAF8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"/>
            <a:ext cx="1409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</a:defRPr>
            </a:pPr>
            <a:r>
              <a:rPr sz="4350" b="1">
                <a:solidFill>
                  <a:srgbClr val="101820"/>
                </a:solidFill>
              </a:rPr>
              <a:t>Privacy and governance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E5CA504-1184-4661-B303-90740A4D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57300"/>
            <a:ext cx="1295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E6978"/>
                </a:solidFill>
              </a:defRPr>
            </a:pPr>
            <a:r>
              <a:rPr sz="2100">
                <a:solidFill>
                  <a:srgbClr val="5E6978"/>
                </a:solidFill>
              </a:rPr>
              <a:t>This has to feel safe for Lattice: cohort-level support, not automated HR action.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EB5620A0-C29E-42E4-992B-D6D50266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5524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C94C"/>
                </a:solidFill>
              </a:defRPr>
            </a:pPr>
            <a:r>
              <a:rPr sz="1500" b="1">
                <a:solidFill>
                  <a:srgbClr val="F2C94C"/>
                </a:solidFill>
              </a:rPr>
              <a:t>11</a:t>
            </a:r>
          </a:p>
        </p:txBody>
      </p:sp>
      <p:sp>
        <p:nvSpPr>
          <p:cNvPr id="5" name="bullet-num-0">
            <a:extLst xmlns:a="http://schemas.openxmlformats.org/drawingml/2006/main">
              <a:ext uri="{FF2B5EF4-FFF2-40B4-BE49-F238E27FC236}">
                <a16:creationId xmlns:a16="http://schemas.microsoft.com/office/drawing/2014/main" id="{2B93A93F-CE82-432F-B138-26453A2F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01</a:t>
            </a:r>
          </a:p>
        </p:txBody>
      </p:sp>
      <p:sp>
        <p:nvSpPr>
          <p:cNvPr id="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F29F2BF6-170C-4F47-B7E8-80438130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7429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Minimum cohort thresholds before exposing heat maps.</a:t>
            </a:r>
          </a:p>
        </p:txBody>
      </p:sp>
      <p:sp>
        <p:nvSpPr>
          <p:cNvPr id="7" name="bullet-num-1">
            <a:extLst xmlns:a="http://schemas.openxmlformats.org/drawingml/2006/main">
              <a:ext uri="{FF2B5EF4-FFF2-40B4-BE49-F238E27FC236}">
                <a16:creationId xmlns:a16="http://schemas.microsoft.com/office/drawing/2014/main" id="{ADDEF12B-C5E9-439C-9EDF-D4068B5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02</a:t>
            </a:r>
          </a:p>
        </p:txBody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9FEA6CC5-DE90-47DA-B619-A3C86952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19350"/>
            <a:ext cx="7429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RBAC: execs see aggregate risk; managers see their own cohorts; HR owns exception workflow.</a:t>
            </a:r>
          </a:p>
        </p:txBody>
      </p:sp>
      <p:sp>
        <p:nvSpPr>
          <p:cNvPr id="9" name="bullet-num-2">
            <a:extLst xmlns:a="http://schemas.openxmlformats.org/drawingml/2006/main">
              <a:ext uri="{FF2B5EF4-FFF2-40B4-BE49-F238E27FC236}">
                <a16:creationId xmlns:a16="http://schemas.microsoft.com/office/drawing/2014/main" id="{408790E5-2B4A-44A2-9E0F-3357F8F0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03</a:t>
            </a:r>
          </a:p>
        </p:txBody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3F2650BF-B860-45F0-BBA0-6631374D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86100"/>
            <a:ext cx="7429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Quotes are simulated outputs for decision support, not employee records.</a:t>
            </a:r>
          </a:p>
        </p:txBody>
      </p:sp>
      <p:sp>
        <p:nvSpPr>
          <p:cNvPr id="11" name="artifact-Positioning line">
            <a:extLst xmlns:a="http://schemas.openxmlformats.org/drawingml/2006/main">
              <a:ext uri="{FF2B5EF4-FFF2-40B4-BE49-F238E27FC236}">
                <a16:creationId xmlns:a16="http://schemas.microsoft.com/office/drawing/2014/main" id="{BEB7383C-601A-4B3C-923E-B0B56DD4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000250"/>
            <a:ext cx="8105775" cy="7248525"/>
          </a:xfrm>
          <a:prstGeom xmlns:a="http://schemas.openxmlformats.org/drawingml/2006/main" prst="roundRect">
            <a:avLst>
              <a:gd name="adj" fmla="val 1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69149-DB36-429B-8397-51E102C4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28850"/>
            <a:ext cx="7581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Positioning line</a:t>
            </a:r>
          </a:p>
        </p:txBody>
      </p:sp>
      <p:sp>
        <p:nvSpPr>
          <p:cNvPr id="13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5532171A-865A-4F98-997E-384E3DE2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146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Decision support, not automation.</a:t>
            </a:r>
          </a:p>
        </p:txBody>
      </p:sp>
      <p:sp>
        <p:nvSpPr>
          <p:cNvPr id="14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84B13271-3645-43A3-8EEC-A5CC7C05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575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No individual employment decisions.</a:t>
            </a:r>
          </a:p>
        </p:txBody>
      </p:sp>
      <p:sp>
        <p:nvSpPr>
          <p:cNvPr id="15" name="artifact-line-2">
            <a:extLst xmlns:a="http://schemas.openxmlformats.org/drawingml/2006/main">
              <a:ext uri="{FF2B5EF4-FFF2-40B4-BE49-F238E27FC236}">
                <a16:creationId xmlns:a16="http://schemas.microsoft.com/office/drawing/2014/main" id="{4DBBF04E-7AA2-4AAC-A20B-24FFBEFA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8135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Use the model to rewrite the policy before employees ever see it.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920EE8C-4413-4E07-A737-C26A088A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393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17" name="footer-copy">
            <a:extLst xmlns:a="http://schemas.openxmlformats.org/drawingml/2006/main">
              <a:ext uri="{FF2B5EF4-FFF2-40B4-BE49-F238E27FC236}">
                <a16:creationId xmlns:a16="http://schemas.microsoft.com/office/drawing/2014/main" id="{C22C15CA-5532-4431-BD5B-188120D2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9582150"/>
            <a:ext cx="15335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978"/>
                </a:solidFill>
              </a:defRPr>
            </a:pPr>
            <a:r>
              <a:rPr sz="1275">
                <a:solidFill>
                  <a:srgbClr val="5E6978"/>
                </a:solidFill>
              </a:rPr>
              <a:t>Lattice Predict hackathon deck | P4 build</a:t>
            </a:r>
          </a:p>
        </p:txBody>
      </p:sp>
    </p:spTree>
    <p:extLst>
      <p:ext uri="{BB962C8B-B14F-4D97-AF65-F5344CB8AC3E}">
        <p14:creationId xmlns:p14="http://schemas.microsoft.com/office/powerpoint/2010/main" val="108410867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5E12623C-90C3-4B16-9504-0029BD0C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0">
            <a:solidFill>
              <a:srgbClr val="7B61FF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6552E-D311-4EB9-B452-2F8D9D3A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"/>
            <a:ext cx="1409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</a:defRPr>
            </a:pPr>
            <a:r>
              <a:rPr sz="4350" b="1">
                <a:solidFill>
                  <a:srgbClr val="101820"/>
                </a:solidFill>
              </a:rPr>
              <a:t>MiroFish lineage, Lattice product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3103C07-E66B-4AE7-8DB4-7555A0B7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57300"/>
            <a:ext cx="1295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E6978"/>
                </a:solidFill>
              </a:defRPr>
            </a:pPr>
            <a:r>
              <a:rPr sz="2100">
                <a:solidFill>
                  <a:srgbClr val="5E6978"/>
                </a:solidFill>
              </a:rPr>
              <a:t>We borrow the multi-agent simulation posture, then specialize it for workforce decisions.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21C6502A-6129-4A06-B6EE-F1D0D573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5524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B61FF"/>
                </a:solidFill>
              </a:defRPr>
            </a:pPr>
            <a:r>
              <a:rPr sz="1500" b="1">
                <a:solidFill>
                  <a:srgbClr val="7B61FF"/>
                </a:solidFill>
              </a:rPr>
              <a:t>12</a:t>
            </a:r>
          </a:p>
        </p:txBody>
      </p:sp>
      <p:sp>
        <p:nvSpPr>
          <p:cNvPr id="5" name="artifact-Inspired by MiroFish">
            <a:extLst xmlns:a="http://schemas.openxmlformats.org/drawingml/2006/main">
              <a:ext uri="{FF2B5EF4-FFF2-40B4-BE49-F238E27FC236}">
                <a16:creationId xmlns:a16="http://schemas.microsoft.com/office/drawing/2014/main" id="{32E9EDFB-3857-4437-878D-60C0CFFD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8115300" cy="7248525"/>
          </a:xfrm>
          <a:prstGeom xmlns:a="http://schemas.openxmlformats.org/drawingml/2006/main" prst="roundRect">
            <a:avLst>
              <a:gd name="adj" fmla="val 1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0BAEA-F543-4490-B1CF-61EAE8AF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7581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B61FF"/>
                </a:solidFill>
              </a:defRPr>
            </a:pPr>
            <a:r>
              <a:rPr sz="1350" b="1">
                <a:solidFill>
                  <a:srgbClr val="7B61FF"/>
                </a:solidFill>
              </a:rPr>
              <a:t>Inspired by MiroFish</a:t>
            </a:r>
          </a:p>
        </p:txBody>
      </p:sp>
      <p:sp>
        <p:nvSpPr>
          <p:cNvPr id="7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9C30DA68-369F-462C-AC6E-F4AFC9E2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Seed material creates a parallel world.</a:t>
            </a:r>
          </a:p>
        </p:txBody>
      </p:sp>
      <p:sp>
        <p:nvSpPr>
          <p:cNvPr id="8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66DBA131-0698-459D-8C3E-EE856F4E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Agents interact and produce emergent trajectories.</a:t>
            </a:r>
          </a:p>
        </p:txBody>
      </p:sp>
      <p:sp>
        <p:nvSpPr>
          <p:cNvPr id="9" name="artifact-line-2">
            <a:extLst xmlns:a="http://schemas.openxmlformats.org/drawingml/2006/main">
              <a:ext uri="{FF2B5EF4-FFF2-40B4-BE49-F238E27FC236}">
                <a16:creationId xmlns:a16="http://schemas.microsoft.com/office/drawing/2014/main" id="{D237FAC1-246D-4181-9E72-E2547E84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A report is generated from the simulated world.</a:t>
            </a:r>
          </a:p>
        </p:txBody>
      </p:sp>
      <p:sp>
        <p:nvSpPr>
          <p:cNvPr id="10" name="artifact-Unique to us">
            <a:extLst xmlns:a="http://schemas.openxmlformats.org/drawingml/2006/main">
              <a:ext uri="{FF2B5EF4-FFF2-40B4-BE49-F238E27FC236}">
                <a16:creationId xmlns:a16="http://schemas.microsoft.com/office/drawing/2014/main" id="{73031D18-883D-4208-A16C-8BC92234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8115300" cy="7248525"/>
          </a:xfrm>
          <a:prstGeom xmlns:a="http://schemas.openxmlformats.org/drawingml/2006/main" prst="roundRect">
            <a:avLst>
              <a:gd name="adj" fmla="val 1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E5593-E494-4F10-8145-A97C2DDE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28850"/>
            <a:ext cx="7581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Unique to us</a:t>
            </a:r>
          </a:p>
        </p:txBody>
      </p:sp>
      <p:sp>
        <p:nvSpPr>
          <p:cNvPr id="12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BFF4C035-7539-470F-BF97-C8DD330C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Northwind workforce personas.</a:t>
            </a:r>
          </a:p>
        </p:txBody>
      </p:sp>
      <p:sp>
        <p:nvSpPr>
          <p:cNvPr id="13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E1073AF5-2622-49EF-9873-7E38F1A8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Lattice pulse, eNPS, cohort metrics.</a:t>
            </a:r>
          </a:p>
        </p:txBody>
      </p:sp>
      <p:sp>
        <p:nvSpPr>
          <p:cNvPr id="14" name="artifact-line-2">
            <a:extLst xmlns:a="http://schemas.openxmlformats.org/drawingml/2006/main">
              <a:ext uri="{FF2B5EF4-FFF2-40B4-BE49-F238E27FC236}">
                <a16:creationId xmlns:a16="http://schemas.microsoft.com/office/drawing/2014/main" id="{A6560640-F4C7-4EC8-8371-15CF1721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8135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Policy rewrite loop tied to action feed evidence.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5568CF6-D10C-4C59-843A-D3BF9393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393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16" name="footer-copy">
            <a:extLst xmlns:a="http://schemas.openxmlformats.org/drawingml/2006/main">
              <a:ext uri="{FF2B5EF4-FFF2-40B4-BE49-F238E27FC236}">
                <a16:creationId xmlns:a16="http://schemas.microsoft.com/office/drawing/2014/main" id="{97E8312B-9F86-44E9-8D38-4672EC95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9582150"/>
            <a:ext cx="15335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978"/>
                </a:solidFill>
              </a:defRPr>
            </a:pPr>
            <a:r>
              <a:rPr sz="1275">
                <a:solidFill>
                  <a:srgbClr val="5E6978"/>
                </a:solidFill>
              </a:rPr>
              <a:t>Lattice Predict hackathon deck | P4 build</a:t>
            </a:r>
          </a:p>
        </p:txBody>
      </p:sp>
    </p:spTree>
    <p:extLst>
      <p:ext uri="{BB962C8B-B14F-4D97-AF65-F5344CB8AC3E}">
        <p14:creationId xmlns:p14="http://schemas.microsoft.com/office/powerpoint/2010/main" val="79620074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5EBCE23B-5AC6-4CF7-B29A-80DE0A44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0C5056-EE78-408A-AF7E-602D32FF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"/>
            <a:ext cx="1409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</a:defRPr>
            </a:pPr>
            <a:r>
              <a:rPr sz="4350" b="1">
                <a:solidFill>
                  <a:srgbClr val="101820"/>
                </a:solidFill>
              </a:rPr>
              <a:t>Frontend handoff contract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A5570FC-ADE9-4EEF-AFDE-56B77BC4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57300"/>
            <a:ext cx="1295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E6978"/>
                </a:solidFill>
              </a:defRPr>
            </a:pPr>
            <a:r>
              <a:rPr sz="2100">
                <a:solidFill>
                  <a:srgbClr val="5E6978"/>
                </a:solidFill>
              </a:rPr>
              <a:t>P2 and P3 can build confidently against stable IDs, enums, and event types.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8BDF0658-9001-4624-AB00-6724311B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5524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13</a:t>
            </a:r>
          </a:p>
        </p:txBody>
      </p:sp>
      <p:sp>
        <p:nvSpPr>
          <p:cNvPr id="5" name="artifact-Action enum">
            <a:extLst xmlns:a="http://schemas.openxmlformats.org/drawingml/2006/main">
              <a:ext uri="{FF2B5EF4-FFF2-40B4-BE49-F238E27FC236}">
                <a16:creationId xmlns:a16="http://schemas.microsoft.com/office/drawing/2014/main" id="{369688DC-3798-46CC-A3DF-835BA8FA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8124825" cy="7248525"/>
          </a:xfrm>
          <a:prstGeom xmlns:a="http://schemas.openxmlformats.org/drawingml/2006/main" prst="roundRect">
            <a:avLst>
              <a:gd name="adj" fmla="val 1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E9B90-BDC3-44C7-A0F3-76DEF151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760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Action enum</a:t>
            </a:r>
          </a:p>
        </p:txBody>
      </p:sp>
      <p:sp>
        <p:nvSpPr>
          <p:cNvPr id="7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2D065F45-5E0E-4DFC-95D0-67EFA99E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7600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VENT_TO_PEER, POST_IN_CHANNEL</a:t>
            </a:r>
          </a:p>
        </p:txBody>
      </p:sp>
      <p:sp>
        <p:nvSpPr>
          <p:cNvPr id="8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A52AA303-23F7-430C-9B3A-04037A92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7600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MESSAGE_MANAGER, GO_QUIET</a:t>
            </a:r>
          </a:p>
        </p:txBody>
      </p:sp>
      <p:sp>
        <p:nvSpPr>
          <p:cNvPr id="9" name="artifact-line-2">
            <a:extLst xmlns:a="http://schemas.openxmlformats.org/drawingml/2006/main">
              <a:ext uri="{FF2B5EF4-FFF2-40B4-BE49-F238E27FC236}">
                <a16:creationId xmlns:a16="http://schemas.microsoft.com/office/drawing/2014/main" id="{6A08B838-F94F-4C21-A64C-B41D3ED7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7600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UPDATE_LINKEDIN, ADVOCATE</a:t>
            </a:r>
          </a:p>
        </p:txBody>
      </p:sp>
      <p:sp>
        <p:nvSpPr>
          <p:cNvPr id="10" name="artifact-line-3">
            <a:extLst xmlns:a="http://schemas.openxmlformats.org/drawingml/2006/main">
              <a:ext uri="{FF2B5EF4-FFF2-40B4-BE49-F238E27FC236}">
                <a16:creationId xmlns:a16="http://schemas.microsoft.com/office/drawing/2014/main" id="{520BFC46-4EEC-4A17-8195-7B29905C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7600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REQUEST_EXCEPTION, DO_NOTHING</a:t>
            </a:r>
          </a:p>
        </p:txBody>
      </p:sp>
      <p:sp>
        <p:nvSpPr>
          <p:cNvPr id="11" name="artifact-SSE events">
            <a:extLst xmlns:a="http://schemas.openxmlformats.org/drawingml/2006/main">
              <a:ext uri="{FF2B5EF4-FFF2-40B4-BE49-F238E27FC236}">
                <a16:creationId xmlns:a16="http://schemas.microsoft.com/office/drawing/2014/main" id="{F15DB92C-5B29-4375-9D80-B18C2D9B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000250"/>
            <a:ext cx="8124825" cy="7248525"/>
          </a:xfrm>
          <a:prstGeom xmlns:a="http://schemas.openxmlformats.org/drawingml/2006/main" prst="roundRect">
            <a:avLst>
              <a:gd name="adj" fmla="val 1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F723F-4DD3-4F1B-B5F1-E2684FAB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28850"/>
            <a:ext cx="760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SSE events</a:t>
            </a:r>
          </a:p>
        </p:txBody>
      </p:sp>
      <p:sp>
        <p:nvSpPr>
          <p:cNvPr id="13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D0DAF959-1641-4006-BA65-1BB9F23B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7600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stage</a:t>
            </a:r>
          </a:p>
        </p:txBody>
      </p:sp>
      <p:sp>
        <p:nvSpPr>
          <p:cNvPr id="14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690E23BD-543E-41C0-9ACD-0E75C114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7600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parsed</a:t>
            </a:r>
          </a:p>
        </p:txBody>
      </p:sp>
      <p:sp>
        <p:nvSpPr>
          <p:cNvPr id="15" name="artifact-line-2">
            <a:extLst xmlns:a="http://schemas.openxmlformats.org/drawingml/2006/main">
              <a:ext uri="{FF2B5EF4-FFF2-40B4-BE49-F238E27FC236}">
                <a16:creationId xmlns:a16="http://schemas.microsoft.com/office/drawing/2014/main" id="{7331205A-C8D0-49F3-99AB-1E5C0064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81350"/>
            <a:ext cx="7600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action</a:t>
            </a:r>
          </a:p>
        </p:txBody>
      </p:sp>
      <p:sp>
        <p:nvSpPr>
          <p:cNvPr id="16" name="artifact-line-3">
            <a:extLst xmlns:a="http://schemas.openxmlformats.org/drawingml/2006/main">
              <a:ext uri="{FF2B5EF4-FFF2-40B4-BE49-F238E27FC236}">
                <a16:creationId xmlns:a16="http://schemas.microsoft.com/office/drawing/2014/main" id="{01289D2C-ED4D-423A-B6B0-19B0B977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24250"/>
            <a:ext cx="7600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tick</a:t>
            </a:r>
          </a:p>
        </p:txBody>
      </p:sp>
      <p:sp>
        <p:nvSpPr>
          <p:cNvPr id="17" name="artifact-line-4">
            <a:extLst xmlns:a="http://schemas.openxmlformats.org/drawingml/2006/main">
              <a:ext uri="{FF2B5EF4-FFF2-40B4-BE49-F238E27FC236}">
                <a16:creationId xmlns:a16="http://schemas.microsoft.com/office/drawing/2014/main" id="{2404044C-205C-4879-A4BC-73EF29BB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48100"/>
            <a:ext cx="7600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result</a:t>
            </a:r>
          </a:p>
        </p:txBody>
      </p:sp>
      <p:sp>
        <p:nvSpPr>
          <p:cNvPr id="18" name="artifact-line-5">
            <a:extLst xmlns:a="http://schemas.openxmlformats.org/drawingml/2006/main">
              <a:ext uri="{FF2B5EF4-FFF2-40B4-BE49-F238E27FC236}">
                <a16:creationId xmlns:a16="http://schemas.microsoft.com/office/drawing/2014/main" id="{3A8FED5A-B27A-4472-AC91-FBE16A26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0"/>
            <a:ext cx="7600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error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D51722D-34BE-4487-9041-3B1F2D66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393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20" name="footer-copy">
            <a:extLst xmlns:a="http://schemas.openxmlformats.org/drawingml/2006/main">
              <a:ext uri="{FF2B5EF4-FFF2-40B4-BE49-F238E27FC236}">
                <a16:creationId xmlns:a16="http://schemas.microsoft.com/office/drawing/2014/main" id="{ED10DC3D-777E-4DFB-8306-D04FC6FD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9582150"/>
            <a:ext cx="15335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978"/>
                </a:solidFill>
              </a:defRPr>
            </a:pPr>
            <a:r>
              <a:rPr sz="1275">
                <a:solidFill>
                  <a:srgbClr val="5E6978"/>
                </a:solidFill>
              </a:rPr>
              <a:t>Schema: contracts/simulation_result.schema.json</a:t>
            </a:r>
          </a:p>
        </p:txBody>
      </p:sp>
    </p:spTree>
    <p:extLst>
      <p:ext uri="{BB962C8B-B14F-4D97-AF65-F5344CB8AC3E}">
        <p14:creationId xmlns:p14="http://schemas.microsoft.com/office/powerpoint/2010/main" val="13238932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849D2E16-6D2C-4444-A2FC-B4AC929F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EF6F6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A2EC7D-D19A-482C-BFD1-C1342D25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"/>
            <a:ext cx="1409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</a:defRPr>
            </a:pPr>
            <a:r>
              <a:rPr sz="4350" b="1">
                <a:solidFill>
                  <a:srgbClr val="101820"/>
                </a:solidFill>
              </a:rPr>
              <a:t>Demo script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3871142-DE7F-4D98-8FF6-2B7E2E64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57300"/>
            <a:ext cx="1295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E6978"/>
                </a:solidFill>
              </a:defRPr>
            </a:pPr>
            <a:r>
              <a:rPr sz="2100">
                <a:solidFill>
                  <a:srgbClr val="5E6978"/>
                </a:solidFill>
              </a:rPr>
              <a:t>Keep the live path tight and leave room for the judge's own policy.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2DB23386-4093-4C88-8BF0-64203B16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5524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F6F6C"/>
                </a:solidFill>
              </a:defRPr>
            </a:pPr>
            <a:r>
              <a:rPr sz="1500" b="1">
                <a:solidFill>
                  <a:srgbClr val="EF6F6C"/>
                </a:solidFill>
              </a:rPr>
              <a:t>14</a:t>
            </a:r>
          </a:p>
        </p:txBody>
      </p:sp>
      <p:sp>
        <p:nvSpPr>
          <p:cNvPr id="5" name="bullet-num-0">
            <a:extLst xmlns:a="http://schemas.openxmlformats.org/drawingml/2006/main">
              <a:ext uri="{FF2B5EF4-FFF2-40B4-BE49-F238E27FC236}">
                <a16:creationId xmlns:a16="http://schemas.microsoft.com/office/drawing/2014/main" id="{09290CFE-3BCA-4EF4-BF78-4D496ED0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01</a:t>
            </a:r>
          </a:p>
        </p:txBody>
      </p:sp>
      <p:sp>
        <p:nvSpPr>
          <p:cNvPr id="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51A244A7-B81B-476B-8353-A571618F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15963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Hook: HR announces on Tuesday; learns what broke through Slack and resignations by Friday.</a:t>
            </a:r>
          </a:p>
        </p:txBody>
      </p:sp>
      <p:sp>
        <p:nvSpPr>
          <p:cNvPr id="7" name="bullet-num-1">
            <a:extLst xmlns:a="http://schemas.openxmlformats.org/drawingml/2006/main">
              <a:ext uri="{FF2B5EF4-FFF2-40B4-BE49-F238E27FC236}">
                <a16:creationId xmlns:a16="http://schemas.microsoft.com/office/drawing/2014/main" id="{A31E194B-6DBB-4268-961B-B01B4B09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02</a:t>
            </a:r>
          </a:p>
        </p:txBody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912160BF-1D03-4DE7-B957-55E12DC6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19350"/>
            <a:ext cx="15963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Paste RTO v1 and run the simulation.</a:t>
            </a:r>
          </a:p>
        </p:txBody>
      </p:sp>
      <p:sp>
        <p:nvSpPr>
          <p:cNvPr id="9" name="bullet-num-2">
            <a:extLst xmlns:a="http://schemas.openxmlformats.org/drawingml/2006/main">
              <a:ext uri="{FF2B5EF4-FFF2-40B4-BE49-F238E27FC236}">
                <a16:creationId xmlns:a16="http://schemas.microsoft.com/office/drawing/2014/main" id="{E8CF128B-34E4-4142-A06E-D50DB090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03</a:t>
            </a:r>
          </a:p>
        </p:txBody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C0BE078E-039C-4C07-A199-6286410E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38450"/>
            <a:ext cx="15963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Narrate arcs as the graph and action feed move.</a:t>
            </a:r>
          </a:p>
        </p:txBody>
      </p:sp>
      <p:sp>
        <p:nvSpPr>
          <p:cNvPr id="11" name="bullet-num-3">
            <a:extLst xmlns:a="http://schemas.openxmlformats.org/drawingml/2006/main">
              <a:ext uri="{FF2B5EF4-FFF2-40B4-BE49-F238E27FC236}">
                <a16:creationId xmlns:a16="http://schemas.microsoft.com/office/drawing/2014/main" id="{B121B8AD-DB1E-4360-9455-BFDD5920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04</a:t>
            </a:r>
          </a:p>
        </p:txBody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5F6C1CB6-415D-4EF6-82C8-0E8F4272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57550"/>
            <a:ext cx="15963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Open results: eNPS, heat map, themes, quotes.</a:t>
            </a:r>
          </a:p>
        </p:txBody>
      </p:sp>
      <p:sp>
        <p:nvSpPr>
          <p:cNvPr id="13" name="bullet-num-4">
            <a:extLst xmlns:a="http://schemas.openxmlformats.org/drawingml/2006/main">
              <a:ext uri="{FF2B5EF4-FFF2-40B4-BE49-F238E27FC236}">
                <a16:creationId xmlns:a16="http://schemas.microsoft.com/office/drawing/2014/main" id="{5C149F19-6F3A-45C9-B9C9-3C6BE393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05</a:t>
            </a:r>
          </a:p>
        </p:txBody>
      </p:sp>
      <p:sp>
        <p:nvSpPr>
          <p:cNvPr id="14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BD4F2C10-ED93-47D7-A557-DD729C41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15963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Apply recommendation, run v2, compare action volume.</a:t>
            </a:r>
          </a:p>
        </p:txBody>
      </p:sp>
      <p:sp>
        <p:nvSpPr>
          <p:cNvPr id="15" name="bullet-num-5">
            <a:extLst xmlns:a="http://schemas.openxmlformats.org/drawingml/2006/main">
              <a:ext uri="{FF2B5EF4-FFF2-40B4-BE49-F238E27FC236}">
                <a16:creationId xmlns:a16="http://schemas.microsoft.com/office/drawing/2014/main" id="{DDF7032B-A7BA-45DA-92BB-EF7FD512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06</a:t>
            </a:r>
          </a:p>
        </p:txBody>
      </p:sp>
      <p:sp>
        <p:nvSpPr>
          <p:cNvPr id="16" name="bullet-text-5">
            <a:extLst xmlns:a="http://schemas.openxmlformats.org/drawingml/2006/main">
              <a:ext uri="{FF2B5EF4-FFF2-40B4-BE49-F238E27FC236}">
                <a16:creationId xmlns:a16="http://schemas.microsoft.com/office/drawing/2014/main" id="{05E2A6F8-9DE8-47DF-A474-3A59D851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95750"/>
            <a:ext cx="15963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Bonus: ask a judge to paste their policy.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22CBDB0-1992-4F28-A117-5BC3E417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18" name="footer-copy">
            <a:extLst xmlns:a="http://schemas.openxmlformats.org/drawingml/2006/main">
              <a:ext uri="{FF2B5EF4-FFF2-40B4-BE49-F238E27FC236}">
                <a16:creationId xmlns:a16="http://schemas.microsoft.com/office/drawing/2014/main" id="{E0F57239-8238-4239-A929-17C68D9E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67250"/>
            <a:ext cx="15335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978"/>
                </a:solidFill>
              </a:defRPr>
            </a:pPr>
            <a:r>
              <a:rPr sz="1275">
                <a:solidFill>
                  <a:srgbClr val="5E6978"/>
                </a:solidFill>
              </a:rPr>
              <a:t>Lattice Predict hackathon deck | P4 build</a:t>
            </a:r>
          </a:p>
        </p:txBody>
      </p:sp>
    </p:spTree>
    <p:extLst>
      <p:ext uri="{BB962C8B-B14F-4D97-AF65-F5344CB8AC3E}">
        <p14:creationId xmlns:p14="http://schemas.microsoft.com/office/powerpoint/2010/main" val="2284014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5F8773E9-1530-4F7D-A74F-2A5C1749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10C3BE-8D47-413D-A870-F704AECF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"/>
            <a:ext cx="1409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</a:defRPr>
            </a:pPr>
            <a:r>
              <a:rPr sz="4350" b="1">
                <a:solidFill>
                  <a:srgbClr val="101820"/>
                </a:solidFill>
              </a:rPr>
              <a:t>Backup demo video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640DD49-1F1A-4323-9254-FCD27AAF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57300"/>
            <a:ext cx="1295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E6978"/>
                </a:solidFill>
              </a:defRPr>
            </a:pPr>
            <a:r>
              <a:rPr sz="2100">
                <a:solidFill>
                  <a:srgbClr val="5E6978"/>
                </a:solidFill>
              </a:rPr>
              <a:t>Record one clean full-screen flow so Wi-Fi never owns the outcome.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4976480F-57A4-471F-8806-C3DB0EC9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5524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78"/>
                </a:solidFill>
              </a:defRPr>
            </a:pPr>
            <a:r>
              <a:rPr sz="1500" b="1">
                <a:solidFill>
                  <a:srgbClr val="00A878"/>
                </a:solidFill>
              </a:rPr>
              <a:t>15</a:t>
            </a:r>
          </a:p>
        </p:txBody>
      </p:sp>
      <p:sp>
        <p:nvSpPr>
          <p:cNvPr id="5" name="bullet-num-0">
            <a:extLst xmlns:a="http://schemas.openxmlformats.org/drawingml/2006/main">
              <a:ext uri="{FF2B5EF4-FFF2-40B4-BE49-F238E27FC236}">
                <a16:creationId xmlns:a16="http://schemas.microsoft.com/office/drawing/2014/main" id="{B61F9B70-45F3-4092-8659-203DEFED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01</a:t>
            </a:r>
          </a:p>
        </p:txBody>
      </p:sp>
      <p:sp>
        <p:nvSpPr>
          <p:cNvPr id="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6766634F-F697-45EB-9A26-E37308A1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7429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Start on the Scenario Builder.</a:t>
            </a:r>
          </a:p>
        </p:txBody>
      </p:sp>
      <p:sp>
        <p:nvSpPr>
          <p:cNvPr id="7" name="bullet-num-1">
            <a:extLst xmlns:a="http://schemas.openxmlformats.org/drawingml/2006/main">
              <a:ext uri="{FF2B5EF4-FFF2-40B4-BE49-F238E27FC236}">
                <a16:creationId xmlns:a16="http://schemas.microsoft.com/office/drawing/2014/main" id="{E647C3DE-1121-418A-B3FD-DE27236D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02</a:t>
            </a:r>
          </a:p>
        </p:txBody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CAFB4B12-33A5-4638-B146-173EBC0A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19350"/>
            <a:ext cx="7429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Run cached RTO v1 through SSE stream.</a:t>
            </a:r>
          </a:p>
        </p:txBody>
      </p:sp>
      <p:sp>
        <p:nvSpPr>
          <p:cNvPr id="9" name="bullet-num-2">
            <a:extLst xmlns:a="http://schemas.openxmlformats.org/drawingml/2006/main">
              <a:ext uri="{FF2B5EF4-FFF2-40B4-BE49-F238E27FC236}">
                <a16:creationId xmlns:a16="http://schemas.microsoft.com/office/drawing/2014/main" id="{2580A4F3-C735-4507-9A59-753F1FF1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03</a:t>
            </a:r>
          </a:p>
        </p:txBody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922247B2-D97E-4DE8-B99D-DD6E288E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38450"/>
            <a:ext cx="7429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Show graph pulses and live feed.</a:t>
            </a:r>
          </a:p>
        </p:txBody>
      </p:sp>
      <p:sp>
        <p:nvSpPr>
          <p:cNvPr id="11" name="bullet-num-3">
            <a:extLst xmlns:a="http://schemas.openxmlformats.org/drawingml/2006/main">
              <a:ext uri="{FF2B5EF4-FFF2-40B4-BE49-F238E27FC236}">
                <a16:creationId xmlns:a16="http://schemas.microsoft.com/office/drawing/2014/main" id="{952409F5-6181-4E50-9E89-A32B0314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04</a:t>
            </a:r>
          </a:p>
        </p:txBody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72E78057-336A-4280-B7A4-AACC84BF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57550"/>
            <a:ext cx="7429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Open results and recommendation.</a:t>
            </a:r>
          </a:p>
        </p:txBody>
      </p:sp>
      <p:sp>
        <p:nvSpPr>
          <p:cNvPr id="13" name="bullet-num-4">
            <a:extLst xmlns:a="http://schemas.openxmlformats.org/drawingml/2006/main">
              <a:ext uri="{FF2B5EF4-FFF2-40B4-BE49-F238E27FC236}">
                <a16:creationId xmlns:a16="http://schemas.microsoft.com/office/drawing/2014/main" id="{50B49A36-1B34-42FB-8453-DF359A2F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05</a:t>
            </a:r>
          </a:p>
        </p:txBody>
      </p:sp>
      <p:sp>
        <p:nvSpPr>
          <p:cNvPr id="14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5AA27306-7AAA-4D49-A1C8-84F637ED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7429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Run/apply v2 and compare.</a:t>
            </a:r>
          </a:p>
        </p:txBody>
      </p:sp>
      <p:sp>
        <p:nvSpPr>
          <p:cNvPr id="15" name="artifact-Narration beat">
            <a:extLst xmlns:a="http://schemas.openxmlformats.org/drawingml/2006/main">
              <a:ext uri="{FF2B5EF4-FFF2-40B4-BE49-F238E27FC236}">
                <a16:creationId xmlns:a16="http://schemas.microsoft.com/office/drawing/2014/main" id="{77C1890A-EA11-47A8-B08F-012AB2C0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8115300" cy="7248525"/>
          </a:xfrm>
          <a:prstGeom xmlns:a="http://schemas.openxmlformats.org/drawingml/2006/main" prst="roundRect">
            <a:avLst>
              <a:gd name="adj" fmla="val 1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E978C-C763-47F1-98EE-8666ACE6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28850"/>
            <a:ext cx="7581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Narration beat</a:t>
            </a:r>
          </a:p>
        </p:txBody>
      </p:sp>
      <p:sp>
        <p:nvSpPr>
          <p:cNvPr id="17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6F1367FC-FD13-4C92-B10C-06FE6BDD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Watch this: we are not predicting feelings.</a:t>
            </a:r>
          </a:p>
        </p:txBody>
      </p:sp>
      <p:sp>
        <p:nvSpPr>
          <p:cNvPr id="18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0C47D300-AFD5-464B-A536-9A90CBA3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We are watching the workforce act.</a:t>
            </a:r>
          </a:p>
        </p:txBody>
      </p:sp>
      <p:sp>
        <p:nvSpPr>
          <p:cNvPr id="19" name="artifact-line-2">
            <a:extLst xmlns:a="http://schemas.openxmlformats.org/drawingml/2006/main">
              <a:ext uri="{FF2B5EF4-FFF2-40B4-BE49-F238E27FC236}">
                <a16:creationId xmlns:a16="http://schemas.microsoft.com/office/drawing/2014/main" id="{C4642A75-EB90-4DF1-B9B8-D4BFC554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8135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The pulse score is downstream of behavior.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AF5FF57-8CB2-4260-A1B8-74F73C6E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393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21" name="footer-copy">
            <a:extLst xmlns:a="http://schemas.openxmlformats.org/drawingml/2006/main">
              <a:ext uri="{FF2B5EF4-FFF2-40B4-BE49-F238E27FC236}">
                <a16:creationId xmlns:a16="http://schemas.microsoft.com/office/drawing/2014/main" id="{EBA87511-E1C0-4143-BA76-55CF6C0C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9582150"/>
            <a:ext cx="15335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978"/>
                </a:solidFill>
              </a:defRPr>
            </a:pPr>
            <a:r>
              <a:rPr sz="1275">
                <a:solidFill>
                  <a:srgbClr val="5E6978"/>
                </a:solidFill>
              </a:rPr>
              <a:t>Lattice Predict hackathon deck | P4 build</a:t>
            </a:r>
          </a:p>
        </p:txBody>
      </p:sp>
    </p:spTree>
    <p:extLst>
      <p:ext uri="{BB962C8B-B14F-4D97-AF65-F5344CB8AC3E}">
        <p14:creationId xmlns:p14="http://schemas.microsoft.com/office/powerpoint/2010/main" val="53257451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569CED57-701E-4BA6-A444-25A8B51F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F2C94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FC119C-F945-4F00-9A7A-57FBBBE8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"/>
            <a:ext cx="1409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</a:defRPr>
            </a:pPr>
            <a:r>
              <a:rPr sz="4350" b="1">
                <a:solidFill>
                  <a:srgbClr val="101820"/>
                </a:solidFill>
              </a:rPr>
              <a:t>Validation checklist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A4AE3F5-0C08-46B6-AEE1-4AED668B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57300"/>
            <a:ext cx="1295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E6978"/>
                </a:solidFill>
              </a:defRPr>
            </a:pPr>
            <a:r>
              <a:rPr sz="2100">
                <a:solidFill>
                  <a:srgbClr val="5E6978"/>
                </a:solidFill>
              </a:rPr>
              <a:t>What needs to pass before the release tag.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179F361E-67D8-46F3-B1B3-545D6C6C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5524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C94C"/>
                </a:solidFill>
              </a:defRPr>
            </a:pPr>
            <a:r>
              <a:rPr sz="1500" b="1">
                <a:solidFill>
                  <a:srgbClr val="F2C94C"/>
                </a:solidFill>
              </a:rPr>
              <a:t>16</a:t>
            </a:r>
          </a:p>
        </p:txBody>
      </p:sp>
      <p:sp>
        <p:nvSpPr>
          <p:cNvPr id="5" name="bullet-num-0">
            <a:extLst xmlns:a="http://schemas.openxmlformats.org/drawingml/2006/main">
              <a:ext uri="{FF2B5EF4-FFF2-40B4-BE49-F238E27FC236}">
                <a16:creationId xmlns:a16="http://schemas.microsoft.com/office/drawing/2014/main" id="{7A2C6849-BDD0-417B-B0D3-804D69E3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01</a:t>
            </a:r>
          </a:p>
        </p:txBody>
      </p:sp>
      <p:sp>
        <p:nvSpPr>
          <p:cNvPr id="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BE7D139D-5A94-45B1-AD5C-7D228FDD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7429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Run P4 module checks.</a:t>
            </a:r>
          </a:p>
        </p:txBody>
      </p:sp>
      <p:sp>
        <p:nvSpPr>
          <p:cNvPr id="7" name="bullet-num-1">
            <a:extLst xmlns:a="http://schemas.openxmlformats.org/drawingml/2006/main">
              <a:ext uri="{FF2B5EF4-FFF2-40B4-BE49-F238E27FC236}">
                <a16:creationId xmlns:a16="http://schemas.microsoft.com/office/drawing/2014/main" id="{90061945-BACC-4E76-9F7B-978EB299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02</a:t>
            </a:r>
          </a:p>
        </p:txBody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4AEB8066-6F9C-4A75-B6B5-B85C542D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19350"/>
            <a:ext cx="7429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Run verify_v1_v2 with production credentials.</a:t>
            </a:r>
          </a:p>
        </p:txBody>
      </p:sp>
      <p:sp>
        <p:nvSpPr>
          <p:cNvPr id="9" name="bullet-num-2">
            <a:extLst xmlns:a="http://schemas.openxmlformats.org/drawingml/2006/main">
              <a:ext uri="{FF2B5EF4-FFF2-40B4-BE49-F238E27FC236}">
                <a16:creationId xmlns:a16="http://schemas.microsoft.com/office/drawing/2014/main" id="{EBB9519F-5C10-420C-A134-6CDB41B8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03</a:t>
            </a:r>
          </a:p>
        </p:txBody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2A7F91DF-F681-471E-8805-10FD93C6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38450"/>
            <a:ext cx="7429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Re-warm cache after theme and recommendation integration.</a:t>
            </a:r>
          </a:p>
        </p:txBody>
      </p:sp>
      <p:sp>
        <p:nvSpPr>
          <p:cNvPr id="11" name="bullet-num-3">
            <a:extLst xmlns:a="http://schemas.openxmlformats.org/drawingml/2006/main">
              <a:ext uri="{FF2B5EF4-FFF2-40B4-BE49-F238E27FC236}">
                <a16:creationId xmlns:a16="http://schemas.microsoft.com/office/drawing/2014/main" id="{DBE79BBF-3ACE-45A9-9874-29AEDA53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04</a:t>
            </a:r>
          </a:p>
        </p:txBody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AE68071B-3263-4C07-A86F-7F47E77C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57550"/>
            <a:ext cx="7429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Production smoke: /health, /northwind, /simulate, /simulate/stream.</a:t>
            </a:r>
          </a:p>
        </p:txBody>
      </p:sp>
      <p:sp>
        <p:nvSpPr>
          <p:cNvPr id="13" name="artifact-Wild policies">
            <a:extLst xmlns:a="http://schemas.openxmlformats.org/drawingml/2006/main">
              <a:ext uri="{FF2B5EF4-FFF2-40B4-BE49-F238E27FC236}">
                <a16:creationId xmlns:a16="http://schemas.microsoft.com/office/drawing/2014/main" id="{444EC2DC-CD91-4BA9-A5E6-FB625F26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8115300" cy="7248525"/>
          </a:xfrm>
          <a:prstGeom xmlns:a="http://schemas.openxmlformats.org/drawingml/2006/main" prst="roundRect">
            <a:avLst>
              <a:gd name="adj" fmla="val 1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748E8-5CC7-4D25-A4A6-5DD96CDA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28850"/>
            <a:ext cx="7581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C94C"/>
                </a:solidFill>
              </a:defRPr>
            </a:pPr>
            <a:r>
              <a:rPr sz="1350" b="1">
                <a:solidFill>
                  <a:srgbClr val="F2C94C"/>
                </a:solidFill>
              </a:rPr>
              <a:t>Wild policies</a:t>
            </a:r>
          </a:p>
        </p:txBody>
      </p:sp>
      <p:sp>
        <p:nvSpPr>
          <p:cNvPr id="15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C68C6F8D-226B-43D8-B6D9-E0BEC826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comp freeze</a:t>
            </a:r>
          </a:p>
        </p:txBody>
      </p:sp>
      <p:sp>
        <p:nvSpPr>
          <p:cNvPr id="16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AAE4A905-4F7A-4A96-B107-636E16D5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4-day workweek</a:t>
            </a:r>
          </a:p>
        </p:txBody>
      </p:sp>
      <p:sp>
        <p:nvSpPr>
          <p:cNvPr id="17" name="artifact-line-2">
            <a:extLst xmlns:a="http://schemas.openxmlformats.org/drawingml/2006/main">
              <a:ext uri="{FF2B5EF4-FFF2-40B4-BE49-F238E27FC236}">
                <a16:creationId xmlns:a16="http://schemas.microsoft.com/office/drawing/2014/main" id="{C52EFA1A-DA69-4463-94BA-ABB27449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8135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layoff round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130CDB1-D96E-4A09-A7A8-F2CFD767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393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19" name="footer-copy">
            <a:extLst xmlns:a="http://schemas.openxmlformats.org/drawingml/2006/main">
              <a:ext uri="{FF2B5EF4-FFF2-40B4-BE49-F238E27FC236}">
                <a16:creationId xmlns:a16="http://schemas.microsoft.com/office/drawing/2014/main" id="{01EBB0D0-AA48-452A-8FB5-E6552901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9582150"/>
            <a:ext cx="15335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978"/>
                </a:solidFill>
              </a:defRPr>
            </a:pPr>
            <a:r>
              <a:rPr sz="1275">
                <a:solidFill>
                  <a:srgbClr val="5E6978"/>
                </a:solidFill>
              </a:rPr>
              <a:t>Lattice Predict hackathon deck | P4 build</a:t>
            </a:r>
          </a:p>
        </p:txBody>
      </p:sp>
    </p:spTree>
    <p:extLst>
      <p:ext uri="{BB962C8B-B14F-4D97-AF65-F5344CB8AC3E}">
        <p14:creationId xmlns:p14="http://schemas.microsoft.com/office/powerpoint/2010/main" val="199945583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BA38F0D9-CFC8-43EE-B61E-CDEED547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EF6F6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E058C2-1E3A-48F1-A960-D951DF03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"/>
            <a:ext cx="1409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</a:defRPr>
            </a:pPr>
            <a:r>
              <a:rPr sz="4350" b="1">
                <a:solidFill>
                  <a:srgbClr val="101820"/>
                </a:solidFill>
              </a:rPr>
              <a:t>Risk cuts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429A9F6-DA0D-4EEC-BFCB-12B9DACF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57300"/>
            <a:ext cx="1295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E6978"/>
                </a:solidFill>
              </a:defRPr>
            </a:pPr>
            <a:r>
              <a:rPr sz="2100">
                <a:solidFill>
                  <a:srgbClr val="5E6978"/>
                </a:solidFill>
              </a:rPr>
              <a:t>If something breaks twice, protect the cinematic path.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A20536F3-A422-4E01-BC5B-2E2B1209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5524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F6F6C"/>
                </a:solidFill>
              </a:defRPr>
            </a:pPr>
            <a:r>
              <a:rPr sz="1500" b="1">
                <a:solidFill>
                  <a:srgbClr val="EF6F6C"/>
                </a:solidFill>
              </a:rPr>
              <a:t>17</a:t>
            </a:r>
          </a:p>
        </p:txBody>
      </p:sp>
      <p:sp>
        <p:nvSpPr>
          <p:cNvPr id="5" name="artifact-Keep">
            <a:extLst xmlns:a="http://schemas.openxmlformats.org/drawingml/2006/main">
              <a:ext uri="{FF2B5EF4-FFF2-40B4-BE49-F238E27FC236}">
                <a16:creationId xmlns:a16="http://schemas.microsoft.com/office/drawing/2014/main" id="{D0CA83DA-D63F-41F8-B99D-BB4860CB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8115300" cy="7248525"/>
          </a:xfrm>
          <a:prstGeom xmlns:a="http://schemas.openxmlformats.org/drawingml/2006/main" prst="roundRect">
            <a:avLst>
              <a:gd name="adj" fmla="val 1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FB703-7495-4B18-84DE-99EA5C58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7581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Keep</a:t>
            </a:r>
          </a:p>
        </p:txBody>
      </p:sp>
      <p:sp>
        <p:nvSpPr>
          <p:cNvPr id="7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85B642C4-BF37-49C5-B607-569DB305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Action feed</a:t>
            </a:r>
          </a:p>
        </p:txBody>
      </p:sp>
      <p:sp>
        <p:nvSpPr>
          <p:cNvPr id="8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2FC65417-BC3D-4651-BEB9-4EC7B2C0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Org graph pulses</a:t>
            </a:r>
          </a:p>
        </p:txBody>
      </p:sp>
      <p:sp>
        <p:nvSpPr>
          <p:cNvPr id="9" name="artifact-line-2">
            <a:extLst xmlns:a="http://schemas.openxmlformats.org/drawingml/2006/main">
              <a:ext uri="{FF2B5EF4-FFF2-40B4-BE49-F238E27FC236}">
                <a16:creationId xmlns:a16="http://schemas.microsoft.com/office/drawing/2014/main" id="{D8139B4D-05D5-460D-A4B0-ACD7F2A1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RTO v1 to v2 comparison</a:t>
            </a:r>
          </a:p>
        </p:txBody>
      </p:sp>
      <p:sp>
        <p:nvSpPr>
          <p:cNvPr id="10" name="artifact-Cut first">
            <a:extLst xmlns:a="http://schemas.openxmlformats.org/drawingml/2006/main">
              <a:ext uri="{FF2B5EF4-FFF2-40B4-BE49-F238E27FC236}">
                <a16:creationId xmlns:a16="http://schemas.microsoft.com/office/drawing/2014/main" id="{A02FE427-317B-4940-8BA0-4CCF9551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8115300" cy="7248525"/>
          </a:xfrm>
          <a:prstGeom xmlns:a="http://schemas.openxmlformats.org/drawingml/2006/main" prst="roundRect">
            <a:avLst>
              <a:gd name="adj" fmla="val 1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C954A-8389-4285-8287-0F851999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28850"/>
            <a:ext cx="7581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F6F6C"/>
                </a:solidFill>
              </a:defRPr>
            </a:pPr>
            <a:r>
              <a:rPr sz="1350" b="1">
                <a:solidFill>
                  <a:srgbClr val="EF6F6C"/>
                </a:solidFill>
              </a:rPr>
              <a:t>Cut first</a:t>
            </a:r>
          </a:p>
        </p:txBody>
      </p:sp>
      <p:sp>
        <p:nvSpPr>
          <p:cNvPr id="12" name="artifact-line-0">
            <a:extLst xmlns:a="http://schemas.openxmlformats.org/drawingml/2006/main">
              <a:ext uri="{FF2B5EF4-FFF2-40B4-BE49-F238E27FC236}">
                <a16:creationId xmlns:a16="http://schemas.microsoft.com/office/drawing/2014/main" id="{2F385418-E21E-482D-8052-FD52E32B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Extra filters</a:t>
            </a:r>
          </a:p>
        </p:txBody>
      </p:sp>
      <p:sp>
        <p:nvSpPr>
          <p:cNvPr id="13" name="artifact-line-1">
            <a:extLst xmlns:a="http://schemas.openxmlformats.org/drawingml/2006/main">
              <a:ext uri="{FF2B5EF4-FFF2-40B4-BE49-F238E27FC236}">
                <a16:creationId xmlns:a16="http://schemas.microsoft.com/office/drawing/2014/main" id="{C8F98B84-54F0-4CBE-94A7-3A26E3D8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Dense chart detail</a:t>
            </a:r>
          </a:p>
        </p:txBody>
      </p:sp>
      <p:sp>
        <p:nvSpPr>
          <p:cNvPr id="14" name="artifact-line-2">
            <a:extLst xmlns:a="http://schemas.openxmlformats.org/drawingml/2006/main">
              <a:ext uri="{FF2B5EF4-FFF2-40B4-BE49-F238E27FC236}">
                <a16:creationId xmlns:a16="http://schemas.microsoft.com/office/drawing/2014/main" id="{32857D3D-04B4-4082-A5DA-A4C83A24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8135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Any nonessential settings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9137214-4418-4075-B5F7-2295D330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393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16" name="footer-copy">
            <a:extLst xmlns:a="http://schemas.openxmlformats.org/drawingml/2006/main">
              <a:ext uri="{FF2B5EF4-FFF2-40B4-BE49-F238E27FC236}">
                <a16:creationId xmlns:a16="http://schemas.microsoft.com/office/drawing/2014/main" id="{53279A75-C00E-4F46-A4D4-EF8762D7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9582150"/>
            <a:ext cx="15335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978"/>
                </a:solidFill>
              </a:defRPr>
            </a:pPr>
            <a:r>
              <a:rPr sz="1275">
                <a:solidFill>
                  <a:srgbClr val="5E6978"/>
                </a:solidFill>
              </a:rPr>
              <a:t>Lattice Predict hackathon deck | P4 build</a:t>
            </a:r>
          </a:p>
        </p:txBody>
      </p:sp>
    </p:spTree>
    <p:extLst>
      <p:ext uri="{BB962C8B-B14F-4D97-AF65-F5344CB8AC3E}">
        <p14:creationId xmlns:p14="http://schemas.microsoft.com/office/powerpoint/2010/main" val="139831126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38405022-D862-41E8-A443-A3E1DC78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D686D4-7360-432C-86BA-012BA297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"/>
            <a:ext cx="1409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</a:defRPr>
            </a:pPr>
            <a:r>
              <a:rPr sz="4350" b="1">
                <a:solidFill>
                  <a:srgbClr val="101820"/>
                </a:solidFill>
              </a:rPr>
              <a:t>Ask and next steps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2F31308-D96A-4CE3-AA33-4DC382A5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57300"/>
            <a:ext cx="1295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E6978"/>
                </a:solidFill>
              </a:defRPr>
            </a:pPr>
            <a:r>
              <a:rPr sz="2100">
                <a:solidFill>
                  <a:srgbClr val="5E6978"/>
                </a:solidFill>
              </a:rPr>
              <a:t>Turn this from hackathon proof into Lattice Predict.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8F6B797D-95E0-445D-815D-B296D5F1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5524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78"/>
                </a:solidFill>
              </a:defRPr>
            </a:pPr>
            <a:r>
              <a:rPr sz="1500" b="1">
                <a:solidFill>
                  <a:srgbClr val="00A878"/>
                </a:solidFill>
              </a:rPr>
              <a:t>18</a:t>
            </a:r>
          </a:p>
        </p:txBody>
      </p:sp>
      <p:sp>
        <p:nvSpPr>
          <p:cNvPr id="5" name="flow-rule-Now">
            <a:extLst xmlns:a="http://schemas.openxmlformats.org/drawingml/2006/main">
              <a:ext uri="{FF2B5EF4-FFF2-40B4-BE49-F238E27FC236}">
                <a16:creationId xmlns:a16="http://schemas.microsoft.com/office/drawing/2014/main" id="{E09A1414-06EC-4503-B71E-5D16BC82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5276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78"/>
          </a:solidFill>
          <a:ln xmlns:a="http://schemas.openxmlformats.org/drawingml/2006/main" w="0">
            <a:solidFill>
              <a:srgbClr val="00A8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53C90-0173-4031-8EFB-A1ABEC59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5276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78"/>
                </a:solidFill>
              </a:defRPr>
            </a:pPr>
            <a:r>
              <a:rPr sz="1350" b="1">
                <a:solidFill>
                  <a:srgbClr val="00A878"/>
                </a:solidFill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F5F21-AA58-4331-B941-4551D31C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527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Demo canonical RTO and one judge policy.</a:t>
            </a:r>
          </a:p>
        </p:txBody>
      </p:sp>
      <p:sp>
        <p:nvSpPr>
          <p:cNvPr id="8" name="flow-rule-Next">
            <a:extLst xmlns:a="http://schemas.openxmlformats.org/drawingml/2006/main">
              <a:ext uri="{FF2B5EF4-FFF2-40B4-BE49-F238E27FC236}">
                <a16:creationId xmlns:a16="http://schemas.microsoft.com/office/drawing/2014/main" id="{8997FAED-DFDA-459E-B399-26BB82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DA624-F836-4113-AC47-E35ECB13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5276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88E95-666A-44D5-8FAB-00314E43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5276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Backtest against historical Lattice pulse and attrition outcomes.</a:t>
            </a:r>
          </a:p>
        </p:txBody>
      </p:sp>
      <p:sp>
        <p:nvSpPr>
          <p:cNvPr id="11" name="flow-rule-Later">
            <a:extLst xmlns:a="http://schemas.openxmlformats.org/drawingml/2006/main">
              <a:ext uri="{FF2B5EF4-FFF2-40B4-BE49-F238E27FC236}">
                <a16:creationId xmlns:a16="http://schemas.microsoft.com/office/drawing/2014/main" id="{C1A5D2CD-E623-42C8-90FF-B2B4A0DC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000250"/>
            <a:ext cx="5276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0">
            <a:solidFill>
              <a:srgbClr val="7B61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87E11A-FB30-4536-8637-07F2836E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190750"/>
            <a:ext cx="5276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B61FF"/>
                </a:solidFill>
              </a:defRPr>
            </a:pPr>
            <a:r>
              <a:rPr sz="1350" b="1">
                <a:solidFill>
                  <a:srgbClr val="7B61FF"/>
                </a:solidFill>
              </a:rPr>
              <a:t>Later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FA4A2-9473-47F4-A69D-D072B42F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476500"/>
            <a:ext cx="5276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0"/>
                </a:solidFill>
              </a:defRPr>
            </a:pPr>
            <a:r>
              <a:rPr sz="1725">
                <a:solidFill>
                  <a:srgbClr val="101820"/>
                </a:solidFill>
              </a:rPr>
              <a:t>Custom workforce upload, manager FAQ, and governance controls.</a:t>
            </a:r>
          </a:p>
        </p:txBody>
      </p:sp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D85D17B-9503-4258-9E31-3D6B0028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393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15" name="footer-copy">
            <a:extLst xmlns:a="http://schemas.openxmlformats.org/drawingml/2006/main">
              <a:ext uri="{FF2B5EF4-FFF2-40B4-BE49-F238E27FC236}">
                <a16:creationId xmlns:a16="http://schemas.microsoft.com/office/drawing/2014/main" id="{9288FD6C-BB94-4815-B734-EBA9E7BE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9582150"/>
            <a:ext cx="15335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978"/>
                </a:solidFill>
              </a:defRPr>
            </a:pPr>
            <a:r>
              <a:rPr sz="1275">
                <a:solidFill>
                  <a:srgbClr val="5E6978"/>
                </a:solidFill>
              </a:rPr>
              <a:t>Lattice Predict hackathon deck | P4 build</a:t>
            </a:r>
          </a:p>
        </p:txBody>
      </p:sp>
    </p:spTree>
    <p:extLst>
      <p:ext uri="{BB962C8B-B14F-4D97-AF65-F5344CB8AC3E}">
        <p14:creationId xmlns:p14="http://schemas.microsoft.com/office/powerpoint/2010/main" val="1359117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2026-04-26T00:48:17.9100000Z</dcterms:created>
  <dcterms:modified xsi:type="dcterms:W3CDTF">2026-04-26T00:48:17.9100000Z</dcterms:modified>
</coreProperties>
</file>